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6cc48f5fdee54567" /><Relationship Type="http://schemas.openxmlformats.org/officeDocument/2006/relationships/extended-properties" Target="/docProps/app.xml" Id="Rd2a2ae04676a4f73" /><Relationship Type="http://schemas.openxmlformats.org/officeDocument/2006/relationships/officeDocument" Target="/ppt/presentation.xml" Id="R8a33116534154a78" /></Relationships>
</file>

<file path=ppt/presentation.xml><?xml version="1.0" encoding="utf-8"?>
<p:presentation xmlns:p="http://schemas.openxmlformats.org/presentationml/2006/main" xmlns:r="http://schemas.openxmlformats.org/officeDocument/2006/relationships">
  <p:sldMasterIdLst>
    <p:sldMasterId id="2147483648" r:id="Rb077c7bddba94d68"/>
  </p:sldMasterIdLst>
  <p:notesMasterIdLst>
    <p:notesMasterId r:id="Rec5dcbd8387846ab"/>
  </p:notesMasterIdLst>
  <p:sldIdLst>
    <p:sldId id="262" r:id="rIdGroup32Cover"/>
    <p:sldId id="256" r:id="R1cff6617398a4e58"/>
    <p:sldId id="257" r:id="Rae4846cce06d4575"/>
    <p:sldId id="258" r:id="Rea63bbcdb99d4c9f"/>
    <p:sldId id="259" r:id="Ref7987da31e246cb"/>
    <p:sldId id="260" r:id="R7d6b93b0ba034146"/>
    <p:sldId id="261" r:id="R758bd93cbaad49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34c3f54b8c744671" /><ns0:Relationship Type="http://schemas.openxmlformats.org/officeDocument/2006/relationships/slideMaster" Target="/ppt/slideMasters/slideMaster1.xml" Id="Rb077c7bddba94d68" /><ns0:Relationship Type="http://schemas.openxmlformats.org/officeDocument/2006/relationships/notesMaster" Target="/ppt/notesMasters/notesMaster1.xml" Id="Rec5dcbd8387846ab" /><ns0:Relationship Type="http://schemas.openxmlformats.org/officeDocument/2006/relationships/presProps" Target="/ppt/presProps.xml" Id="R15834a72797c4cfd" /><ns0:Relationship Type="http://schemas.openxmlformats.org/officeDocument/2006/relationships/tableStyles" Target="/ppt/tableStyles.xml" Id="R4054b8238e68445f" /><ns0:Relationship Type="http://schemas.openxmlformats.org/officeDocument/2006/relationships/slide" Target="/ppt/slides/slide1.xml" Id="R1cff6617398a4e58" /><ns0:Relationship Type="http://schemas.openxmlformats.org/officeDocument/2006/relationships/slide" Target="/ppt/slides/slide2.xml" Id="Rae4846cce06d4575" /><ns0:Relationship Type="http://schemas.openxmlformats.org/officeDocument/2006/relationships/slide" Target="/ppt/slides/slide3.xml" Id="Rea63bbcdb99d4c9f" /><ns0:Relationship Type="http://schemas.openxmlformats.org/officeDocument/2006/relationships/slide" Target="/ppt/slides/slide4.xml" Id="Ref7987da31e246cb" /><ns0:Relationship Type="http://schemas.openxmlformats.org/officeDocument/2006/relationships/slide" Target="/ppt/slides/slide5.xml" Id="R7d6b93b0ba034146" /><ns0:Relationship Type="http://schemas.openxmlformats.org/officeDocument/2006/relationships/slide" Target="/ppt/slides/slide6.xml" Id="R758bd93cbaad493f" /><ns0:Relationship Id="rIdGroup32Cover" Type="http://schemas.openxmlformats.org/officeDocument/2006/relationships/slide" Target="slides/slide7.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131aade64d46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dc371b796c4012" /><Relationship Type="http://schemas.openxmlformats.org/officeDocument/2006/relationships/notesMaster" Target="/ppt/notesMasters/notesMaster1.xml" Id="R92bfb5ca86a641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a8d4b6f7dc4e67" /><Relationship Type="http://schemas.openxmlformats.org/officeDocument/2006/relationships/notesMaster" Target="/ppt/notesMasters/notesMaster1.xml" Id="R89f83e55b57746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b4f6dd4d4f4952" /><Relationship Type="http://schemas.openxmlformats.org/officeDocument/2006/relationships/notesMaster" Target="/ppt/notesMasters/notesMaster1.xml" Id="R6839055c407e40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21168c76c04301" /><Relationship Type="http://schemas.openxmlformats.org/officeDocument/2006/relationships/notesMaster" Target="/ppt/notesMasters/notesMaster1.xml" Id="Rbcaae2feea034b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4e8522004440a6" /><Relationship Type="http://schemas.openxmlformats.org/officeDocument/2006/relationships/notesMaster" Target="/ppt/notesMasters/notesMaster1.xml" Id="R6f6452fc8f154c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d0862fcae04594" /><Relationship Type="http://schemas.openxmlformats.org/officeDocument/2006/relationships/notesMaster" Target="/ppt/notesMasters/notesMaster1.xml" Id="R578b9c476d3c46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Lex Orion is a Streamlit courtroom simulation application. The browser interacts with app.py and the UI modules. Courtroom and agent modules maintain simulation state and prepare prompts. The RAG pipeline extracts uploaded PDF, DOCX and TXT evidence and retrieves relevant local context with TF-IDF. Local case files, legal codes, precedents and principles provide the knowledge base. Groq supports agent dialogue and clerk analysis. Configuration supplies runtime settings and the API key. Speech input and output are optional. This slide preserves the architecture image supplied in Task 1. Its deployment boundary shows the intended GitHub Actions and Streamlit Community Cloud route. Slide 2 distinguishes that route from the current workflow implementation.</a:t>
            </a:r>
          </a:p>
          <a:p xmlns:a="http://schemas.openxmlformats.org/drawingml/2006/main">
            <a:r>
              <a:t/>
            </a:r>
          </a:p>
          <a:p xmlns:a="http://schemas.openxmlformats.org/drawingml/2006/main">
            <a:r>
              <a:t>Sources</a:t>
            </a:r>
          </a:p>
          <a:p xmlns:a="http://schemas.openxmlformats.org/drawingml/2006/main">
            <a:r>
              <a:t>https://github.com/Sreenair-1/devops/blob/main/docs/Task1/lex-orion-architecture.drawio.png</a:t>
            </a:r>
          </a:p>
          <a:p xmlns:a="http://schemas.openxmlformats.org/drawingml/2006/main">
            <a:r>
              <a:t>https://github.com/Sreenair-1/devops/blob/main/README.md</a:t>
            </a:r>
          </a:p>
          <a:p xmlns:a="http://schemas.openxmlformats.org/drawingml/2006/main">
            <a:r>
              <a:t>https://github.com/Sreenair-1/devops/blob/main/config.py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workflow and Task 1 workflow both define validate and package jobs. Pushes and pull requests targeting main trigger the workflow. Validation checks out the repository, sets up Python 3.11.9 with a pip cache, installs requirements, checks Python syntax with python -m compileall -q ., and checks dependency metadata with python -m pip check. The package job depends on validate. It copies the source while excluding Git metadata, build output and Python cache directories, creates dist/lex-orion.tar.gz, and uploads a GitHub Actions artifact named with the commit SHA. The supplied pipeline diagram also contains a deployment box, but the workflow currently contains no deployment job. Streamlit Community Cloud deployment and runtime secret configuration therefore remain separate steps. The syntax and dependency checks are validation gates, not functional application tests.</a:t>
            </a:r>
          </a:p>
          <a:p xmlns:a="http://schemas.openxmlformats.org/drawingml/2006/main">
            <a:r>
              <a:t/>
            </a:r>
          </a:p>
          <a:p xmlns:a="http://schemas.openxmlformats.org/drawingml/2006/main">
            <a:r>
              <a:t>Sources</a:t>
            </a:r>
          </a:p>
          <a:p xmlns:a="http://schemas.openxmlformats.org/drawingml/2006/main">
            <a:r>
              <a:t>https://github.com/Sreenair-1/devops/blob/main/.github/workflows/ci.yml</a:t>
            </a:r>
          </a:p>
          <a:p xmlns:a="http://schemas.openxmlformats.org/drawingml/2006/main">
            <a:r>
              <a:t>https://github.com/Sreenair-1/devops/blob/main/docs/Task1/ci.yml</a:t>
            </a:r>
          </a:p>
          <a:p xmlns:a="http://schemas.openxmlformats.org/drawingml/2006/main">
            <a:r>
              <a:t>https://github.com/Sreenair-1/devops/blob/main/docs/Task1/lex-orion-github-actions.drawio.png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3 deploys two lex-orion replicas behind a ClusterIP Service. Readiness and liveness probes use /_stcore/health. RollingUpdate sets maxUnavailable to 0 and maxSurge to 1; the supplied terminal capture shows the rollout completing successfully.</a:t>
            </a:r>
          </a:p>
          <a:p xmlns:a="http://schemas.openxmlformats.org/drawingml/2006/main">
            <a:r>
              <a:t/>
            </a:r>
          </a:p>
          <a:p xmlns:a="http://schemas.openxmlformats.org/drawingml/2006/main">
            <a:r>
              <a:t>Rollback evidence: the supplied rollout history screenshot lists revisions 1 and 2. The rollback screenshot shows kubectl rollout undo deployment/lex-orion returning “rolled back”, rollout status completing successfully, the image returning to lex-orion:task3-v1, and both pods Running with 1/1 readiness and zero restarts.</a:t>
            </a:r>
          </a:p>
          <a:p xmlns:a="http://schemas.openxmlformats.org/drawingml/2006/main">
            <a:r>
              <a:t/>
            </a:r>
          </a:p>
          <a:p xmlns:a="http://schemas.openxmlformats.org/drawingml/2006/main">
            <a:r>
              <a:t>Prometheus and Grafana track process uptime, application availability, mean HTTP latency and HTTP error rate. JSON request logs record timestamp, method, path, status and latency. HTTP latency measures server responses, not LLM generation time.</a:t>
            </a:r>
          </a:p>
          <a:p xmlns:a="http://schemas.openxmlformats.org/drawingml/2006/main">
            <a:r>
              <a:t/>
            </a:r>
          </a:p>
          <a:p xmlns:a="http://schemas.openxmlformats.org/drawingml/2006/main">
            <a:r>
              <a:t>Sources</a:t>
            </a:r>
          </a:p>
          <a:p xmlns:a="http://schemas.openxmlformats.org/drawingml/2006/main">
            <a:r>
              <a:t>https://github.com/Sreenair-1/devops/blob/main/docs/Task3/Files/Docker/Dockerfile</a:t>
            </a:r>
          </a:p>
          <a:p xmlns:a="http://schemas.openxmlformats.org/drawingml/2006/main">
            <a:r>
              <a:t>https://github.com/Sreenair-1/devops/blob/main/docs/Task3/Files/k8s/deployment.yaml</a:t>
            </a:r>
          </a:p>
          <a:p xmlns:a="http://schemas.openxmlformats.org/drawingml/2006/main">
            <a:r>
              <a:t>https://github.com/Sreenair-1/devops/blob/main/docs/Task3/Files/k8s/service.yaml</a:t>
            </a:r>
          </a:p>
          <a:p xmlns:a="http://schemas.openxmlformats.org/drawingml/2006/main">
            <a:r>
              <a:t>https://github.com/Sreenair-1/devops/blob/main/docs/Task3/image-11.png</a:t>
            </a:r>
          </a:p>
          <a:p xmlns:a="http://schemas.openxmlformats.org/drawingml/2006/main">
            <a:r>
              <a:t>User-provided screenshots: kubectl rollout history; kubectl rollout undo/status, restored image and pod health.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screenshot shows kubectl rollout history deployment/lex-orion with revisions 1 and 2. The second shows kubectl rollout undo deployment/lex-orion; kubectl rollout status reports successfully rolled out; the image query returns lex-orion:task3-v1; and both lex-orion pods are Running, 1/1 Ready, with zero restarts.</a:t>
            </a:r>
          </a:p>
          <a:p xmlns:a="http://schemas.openxmlformats.org/drawingml/2006/main">
            <a:r>
              <a:t/>
            </a:r>
          </a:p>
          <a:p xmlns:a="http://schemas.openxmlformats.org/drawingml/2006/main">
            <a:r>
              <a:t>The output also includes Kubernetes' warning that the Deployment was previously managed with kubectl apply. The rollback command completed, and this warning concerns the last-applied annotation for future apply operations.</a:t>
            </a:r>
          </a:p>
          <a:p xmlns:a="http://schemas.openxmlformats.org/drawingml/2006/main">
            <a:r>
              <a:t/>
            </a:r>
          </a:p>
          <a:p xmlns:a="http://schemas.openxmlformats.org/drawingml/2006/main">
            <a:r>
              <a:t>Evidence supplied by the user. Task 3 asks for deployment, rolling update and rollback demonstration with YAMLs and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observed deployment issue is ErrImagePull: Task 3 image 6 shows two unready pods and zero available replicas. Another screenshot shows the lex-orion:task3-v1 image inside the Minikube Docker environment, and the supplied deployment manifest uses imagePullPolicy Never. Later rollout and pod screenshots demonstrate a healthy deployment. The evidence supports checking the local image tag, image availability and pull policy, but does not document every corrective command.</a:t>
            </a:r>
          </a:p>
          <a:p xmlns:a="http://schemas.openxmlformats.org/drawingml/2006/main">
            <a:r>
              <a:t/>
            </a:r>
          </a:p>
          <a:p xmlns:a="http://schemas.openxmlformats.org/drawingml/2006/main">
            <a:r>
              <a:t>The second issue is local access to a ClusterIP Service. Task 3 image 8 shows minikube service creating a tunnel and providing a localhost URL, with an instruction to keep the terminal open under the Docker driver on Windows. This establishes local access without changing the Service type.</a:t>
            </a:r>
          </a:p>
          <a:p xmlns:a="http://schemas.openxmlformats.org/drawingml/2006/main">
            <a:r>
              <a:t/>
            </a:r>
          </a:p>
          <a:p xmlns:a="http://schemas.openxmlformats.org/drawingml/2006/main">
            <a:r>
              <a:t>The monitoring launcher instruments Tornado HTTP request handlers. A compatible Streamlit 1.44.1 and prometheus-client 0.21.1 are pinned in requirements-monitoring.txt. The local environment had no running Docker daemon during Task 4, so Prometheus and Grafana used native Windows binaries. Grafana also needed its data directories before starting. The final start and stop scripts were exercised and both Prometheus targets, the app health endpoint and Grafana were verified after restart. These issues motivate repeatable startup scripts and explicit dependency versions.</a:t>
            </a:r>
          </a:p>
          <a:p xmlns:a="http://schemas.openxmlformats.org/drawingml/2006/main">
            <a:r>
              <a:t/>
            </a:r>
          </a:p>
          <a:p xmlns:a="http://schemas.openxmlformats.org/drawingml/2006/main">
            <a:r>
              <a:t>Sources</a:t>
            </a:r>
          </a:p>
          <a:p xmlns:a="http://schemas.openxmlformats.org/drawingml/2006/main">
            <a:r>
              <a:t>https://github.com/Sreenair-1/devops/blob/main/docs/Task3/image-6.png</a:t>
            </a:r>
          </a:p>
          <a:p xmlns:a="http://schemas.openxmlformats.org/drawingml/2006/main">
            <a:r>
              <a:t>https://github.com/Sreenair-1/devops/blob/main/docs/Task3/image-4.png</a:t>
            </a:r>
          </a:p>
          <a:p xmlns:a="http://schemas.openxmlformats.org/drawingml/2006/main">
            <a:r>
              <a:t>https://github.com/Sreenair-1/devops/blob/main/docs/Task3/image-8.png</a:t>
            </a:r>
          </a:p>
          <a:p xmlns:a="http://schemas.openxmlformats.org/drawingml/2006/main">
            <a:r>
              <a:t>https://github.com/Sreenair-1/devops/blob/main/docs/Task3/Files/k8s/deployment.yaml</a:t>
            </a:r>
          </a:p>
          <a:p xmlns:a="http://schemas.openxmlformats.org/drawingml/2006/main">
            <a:r>
              <a:t>E:/Case Study Devops/Task4/requirements-monitoring.txt</a:t>
            </a:r>
          </a:p>
          <a:p xmlns:a="http://schemas.openxmlformats.org/drawingml/2006/main">
            <a:r>
              <a:t>E:/Case Study Devops/Task4/start.ps1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how small, repeatable checks support application delivery. The CI workflow catches syntax and dependency inconsistencies before producing a source bundle, while functional tests would improve coverage beyond these existing checks. Local container deployment depends on matching image versions and pull policy to the actual cluster runtime. Health probes and rollout status provide operational checks that supplement configuration files.</a:t>
            </a:r>
          </a:p>
          <a:p xmlns:a="http://schemas.openxmlformats.org/drawingml/2006/main">
            <a:r>
              <a:t/>
            </a:r>
          </a:p>
          <a:p xmlns:a="http://schemas.openxmlformats.org/drawingml/2006/main">
            <a:r>
              <a:t>Monitoring benefits from clear metric definitions. Application process uptime and health availability answer different questions. HTTP response latency is distinct from LLM response time. Zero observed HTTP errors during normal traffic is meaningful when the request count is nonzero, and a controlled HTTP 403 test verifies that errors contribute to the metric. Request logs provide the method, path, status and latency needed to inspect individual failures.</a:t>
            </a:r>
          </a:p>
          <a:p xmlns:a="http://schemas.openxmlformats.org/drawingml/2006/main">
            <a:r>
              <a:t/>
            </a:r>
          </a:p>
          <a:p xmlns:a="http://schemas.openxmlformats.org/drawingml/2006/main">
            <a:r>
              <a:t>Recovery is now demonstrated directly: Kubernetes history lists revisions 1 and 2, rollout undo succeeds, rollout status confirms completion, the Deployment returns to lex-orion:task3-v1, and both pods are Running at 1/1 readiness.</a:t>
            </a:r>
          </a:p>
          <a:p xmlns:a="http://schemas.openxmlformats.org/drawingml/2006/main">
            <a:r>
              <a:t/>
            </a:r>
          </a:p>
          <a:p xmlns:a="http://schemas.openxmlformats.org/drawingml/2006/main">
            <a:r>
              <a:t>Together, the architecture, pipeline flow, observed challenges, rollback evidence and these lessons form the Task 5 report.</a:t>
            </a:r>
          </a:p>
          <a:p xmlns:a="http://schemas.openxmlformats.org/drawingml/2006/main">
            <a:r>
              <a:t/>
            </a:r>
          </a:p>
          <a:p xmlns:a="http://schemas.openxmlformats.org/drawingml/2006/main">
            <a:r>
              <a:t>Sources</a:t>
            </a:r>
          </a:p>
          <a:p xmlns:a="http://schemas.openxmlformats.org/drawingml/2006/main">
            <a:r>
              <a:t>https://github.com/Sreenair-1/devops/blob/main/.github/workflows/ci.yml</a:t>
            </a:r>
          </a:p>
          <a:p xmlns:a="http://schemas.openxmlformats.org/drawingml/2006/main">
            <a:r>
              <a:t>https://github.com/Sreenair-1/devops/tree/main/docs/Task3</a:t>
            </a:r>
          </a:p>
          <a:p xmlns:a="http://schemas.openxmlformats.org/drawingml/2006/main">
            <a:r>
              <a:t>https://github.com/Sreenair-1/devops/blob/main/docs/Task3/image-9.png</a:t>
            </a:r>
          </a:p>
          <a:p xmlns:a="http://schemas.openxmlformats.org/drawingml/2006/main">
            <a:r>
              <a:t>https://github.com/Sreenair-1/devops/blob/main/docs/Task3/image-12.png</a:t>
            </a:r>
          </a:p>
          <a:p xmlns:a="http://schemas.openxmlformats.org/drawingml/2006/main">
            <a:r>
              <a:t>User-provided screenshots: kubectl rollout history; kubectl rollout undo/status, restored image and pod health.</a:t>
            </a:r>
          </a:p>
          <a:p xmlns:a="http://schemas.openxmlformats.org/drawingml/2006/main">
            <a:r>
              <a:t>E:/Case Study Devops/Task4/README.txt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6e9048fb374d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6a21e0ae134cff" /><Relationship Type="http://schemas.openxmlformats.org/officeDocument/2006/relationships/slideLayout" Target="/ppt/slideLayouts/slideLayout1.xml" Id="R095a32fc50254a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5a32fc50254a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294d93a7f14bf0" /><Relationship Type="http://schemas.openxmlformats.org/officeDocument/2006/relationships/image" Target="/ppt/media/image.png" Id="Re23a6ee6d2744262" /><Relationship Type="http://schemas.openxmlformats.org/officeDocument/2006/relationships/notesSlide" Target="/ppt/notesSlides/notesSlide1.xml" Id="R18834f77c18b41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f090409aa447d2" /><Relationship Type="http://schemas.openxmlformats.org/officeDocument/2006/relationships/image" Target="/ppt/media/image2.png" Id="R1b647e74440a4bee" /><Relationship Type="http://schemas.openxmlformats.org/officeDocument/2006/relationships/notesSlide" Target="/ppt/notesSlides/notesSlide2.xml" Id="R909ea665ad374a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2256be017d421f" /><Relationship Type="http://schemas.openxmlformats.org/officeDocument/2006/relationships/image" Target="/ppt/media/image.jpeg" Id="R4c78c200ac4041e0" /><Relationship Type="http://schemas.openxmlformats.org/officeDocument/2006/relationships/image" Target="/ppt/media/image3.png" Id="R7c10da7f8e904862" /><Relationship Type="http://schemas.openxmlformats.org/officeDocument/2006/relationships/notesSlide" Target="/ppt/notesSlides/notesSlide3.xml" Id="Racf3b461770943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231dca82f448e7" /><Relationship Type="http://schemas.openxmlformats.org/officeDocument/2006/relationships/image" Target="/ppt/media/image4.png" Id="R1802003eeb20438f" /><Relationship Type="http://schemas.openxmlformats.org/officeDocument/2006/relationships/image" Target="/ppt/media/image5.png" Id="R2865d53d22264756" /><Relationship Type="http://schemas.openxmlformats.org/officeDocument/2006/relationships/notesSlide" Target="/ppt/notesSlides/notesSlide4.xml" Id="Rebf533c774e74d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0797262efd4dde" /><Relationship Type="http://schemas.openxmlformats.org/officeDocument/2006/relationships/image" Target="/ppt/media/image6.png" Id="R15763b8a71c740c8" /><Relationship Type="http://schemas.openxmlformats.org/officeDocument/2006/relationships/image" Target="/ppt/media/image7.png" Id="R6d7662032d0a473c" /><Relationship Type="http://schemas.openxmlformats.org/officeDocument/2006/relationships/notesSlide" Target="/ppt/notesSlides/notesSlide5.xml" Id="Re349abb931bc4d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76cb0aaeae409e" /><Relationship Type="http://schemas.openxmlformats.org/officeDocument/2006/relationships/notesSlide" Target="/ppt/notesSlides/notesSlide6.xml" Id="R0fab64b0e8b34f01"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f0f2006fa6c449f8" /></ns0: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5779D570-ED12-4B30-802E-143AF61C1954}"/>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Lex Orion architecture</a:t>
            </a:r>
          </a:p>
        </p:txBody>
      </p:sp>
      <p:sp>
        <p:nvSpPr>
          <p:cNvPr id="2" name="subtitle">
            <a:extLst xmlns:a="http://schemas.openxmlformats.org/drawingml/2006/main">
              <a:ext uri="{FF2B5EF4-FFF2-40B4-BE49-F238E27FC236}">
                <a16:creationId xmlns:a16="http://schemas.microsoft.com/office/drawing/2014/main" id="{E4A6A20A-55FF-42C3-91CF-089ED74B20BB}"/>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36370"/>
                </a:solidFill>
                <a:latin typeface="Arial"/>
                <a:ea typeface="Arial"/>
                <a:cs typeface="Arial"/>
              </a:defRPr>
            </a:pPr>
            <a:r>
              <a:rPr sz="1725" b="0">
                <a:solidFill>
                  <a:srgbClr val="536370"/>
                </a:solidFill>
                <a:latin typeface="Arial"/>
                <a:ea typeface="Arial"/>
                <a:cs typeface="Arial"/>
              </a:rPr>
              <a:t>Task 5 Reflection and Report</a:t>
            </a:r>
          </a:p>
        </p:txBody>
      </p:sp>
      <p:sp>
        <p:nvSpPr>
          <p:cNvPr id="3" name="page-number">
            <a:extLst xmlns:a="http://schemas.openxmlformats.org/drawingml/2006/main">
              <a:ext uri="{FF2B5EF4-FFF2-40B4-BE49-F238E27FC236}">
                <a16:creationId xmlns:a16="http://schemas.microsoft.com/office/drawing/2014/main" id="{69012A9F-5F14-49C5-83B7-9189B6B9F295}"/>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B7252C"/>
                </a:solidFill>
                <a:latin typeface="Arial"/>
                <a:ea typeface="Arial"/>
                <a:cs typeface="Arial"/>
              </a:defRPr>
            </a:pPr>
            <a:r>
              <a:rPr sz="1875" b="1">
                <a:solidFill>
                  <a:srgbClr val="B7252C"/>
                </a:solidFill>
                <a:latin typeface="Arial"/>
                <a:ea typeface="Arial"/>
                <a:cs typeface="Arial"/>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3a6ee6d2744262"/>
          <a:stretch xmlns:a="http://schemas.openxmlformats.org/drawingml/2006/main"/>
        </p:blipFill>
        <p:spPr>
          <a:xfrm xmlns:a="http://schemas.openxmlformats.org/drawingml/2006/main">
            <a:off x="342900" y="1468759"/>
            <a:ext cx="8724900" cy="5015857"/>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49FAAC92-E7EC-4FFD-B711-43F753C7A66F}"/>
              </a:ext>
            </a:extLst>
          </p:cNvPr>
          <p:cNvSpPr>
            <a:spLocks xmlns:a="http://schemas.openxmlformats.org/drawingml/2006/main" noGrp="1"/>
          </p:cNvSpPr>
          <p:nvPr/>
        </p:nvSpPr>
        <p:spPr>
          <a:xfrm xmlns:a="http://schemas.openxmlformats.org/drawingml/2006/main">
            <a:off x="9382125" y="1704975"/>
            <a:ext cx="2333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325" b="1">
                <a:solidFill>
                  <a:srgbClr val="B7252C"/>
                </a:solidFill>
                <a:latin typeface="Arial"/>
                <a:ea typeface="Arial"/>
                <a:cs typeface="Arial"/>
              </a:defRPr>
            </a:pPr>
            <a:r>
              <a:rPr sz="2325" b="1">
                <a:solidFill>
                  <a:srgbClr val="B7252C"/>
                </a:solidFill>
                <a:latin typeface="Arial"/>
                <a:ea typeface="Arial"/>
                <a:cs typeface="Arial"/>
              </a:rPr>
              <a:t>Indian Court</a:t>
            </a:r>
          </a:p>
          <a:p xmlns:a="http://schemas.openxmlformats.org/drawingml/2006/main">
            <a:pPr>
              <a:buNone/>
              <a:defRPr sz="2325" b="1">
                <a:solidFill>
                  <a:srgbClr val="B7252C"/>
                </a:solidFill>
                <a:latin typeface="Arial"/>
                <a:ea typeface="Arial"/>
                <a:cs typeface="Arial"/>
              </a:defRPr>
            </a:pPr>
            <a:r>
              <a:rPr sz="2325" b="1">
                <a:solidFill>
                  <a:srgbClr val="B7252C"/>
                </a:solidFill>
                <a:latin typeface="Arial"/>
                <a:ea typeface="Arial"/>
                <a:cs typeface="Arial"/>
              </a:rPr>
              <a:t>Simulator</a:t>
            </a:r>
          </a:p>
        </p:txBody>
      </p:sp>
      <p:sp>
        <p:nvSpPr>
          <p:cNvPr id="6" name="text">
            <a:extLst xmlns:a="http://schemas.openxmlformats.org/drawingml/2006/main">
              <a:ext uri="{FF2B5EF4-FFF2-40B4-BE49-F238E27FC236}">
                <a16:creationId xmlns:a16="http://schemas.microsoft.com/office/drawing/2014/main" id="{2C4E5077-96E6-4F4D-9418-7B2E2E4D26ED}"/>
              </a:ext>
            </a:extLst>
          </p:cNvPr>
          <p:cNvSpPr>
            <a:spLocks xmlns:a="http://schemas.openxmlformats.org/drawingml/2006/main" noGrp="1"/>
          </p:cNvSpPr>
          <p:nvPr/>
        </p:nvSpPr>
        <p:spPr>
          <a:xfrm xmlns:a="http://schemas.openxmlformats.org/drawingml/2006/main">
            <a:off x="9382125" y="2828925"/>
            <a:ext cx="2333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Streamlit presents the courtroom and evidence tools.</a:t>
            </a:r>
          </a:p>
        </p:txBody>
      </p:sp>
      <p:sp>
        <p:nvSpPr>
          <p:cNvPr id="7" name="text">
            <a:extLst xmlns:a="http://schemas.openxmlformats.org/drawingml/2006/main">
              <a:ext uri="{FF2B5EF4-FFF2-40B4-BE49-F238E27FC236}">
                <a16:creationId xmlns:a16="http://schemas.microsoft.com/office/drawing/2014/main" id="{6808775C-AA9F-4552-9D42-CB2E16690D7E}"/>
              </a:ext>
            </a:extLst>
          </p:cNvPr>
          <p:cNvSpPr>
            <a:spLocks xmlns:a="http://schemas.openxmlformats.org/drawingml/2006/main" noGrp="1"/>
          </p:cNvSpPr>
          <p:nvPr/>
        </p:nvSpPr>
        <p:spPr>
          <a:xfrm xmlns:a="http://schemas.openxmlformats.org/drawingml/2006/main">
            <a:off x="9382125" y="4019550"/>
            <a:ext cx="2333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Local retrieval supplies case and legal context.</a:t>
            </a:r>
          </a:p>
        </p:txBody>
      </p:sp>
      <p:sp>
        <p:nvSpPr>
          <p:cNvPr id="8" name="text">
            <a:extLst xmlns:a="http://schemas.openxmlformats.org/drawingml/2006/main">
              <a:ext uri="{FF2B5EF4-FFF2-40B4-BE49-F238E27FC236}">
                <a16:creationId xmlns:a16="http://schemas.microsoft.com/office/drawing/2014/main" id="{EBEB237F-F50E-4613-877D-5AC155E8A582}"/>
              </a:ext>
            </a:extLst>
          </p:cNvPr>
          <p:cNvSpPr>
            <a:spLocks xmlns:a="http://schemas.openxmlformats.org/drawingml/2006/main" noGrp="1"/>
          </p:cNvSpPr>
          <p:nvPr/>
        </p:nvSpPr>
        <p:spPr>
          <a:xfrm xmlns:a="http://schemas.openxmlformats.org/drawingml/2006/main">
            <a:off x="9382125" y="5200650"/>
            <a:ext cx="2333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Groq generates dialogue and clerk analysis.</a:t>
            </a:r>
          </a:p>
        </p:txBody>
      </p:sp>
    </p:spTree>
    <p:extLst>
      <p:ext uri="{BB962C8B-B14F-4D97-AF65-F5344CB8AC3E}">
        <p14:creationId xmlns:p14="http://schemas.microsoft.com/office/powerpoint/2010/main" val="19406305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113E472-5545-490D-A3DC-6E4C55531E6E}"/>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GitHub Actions pipeline</a:t>
            </a:r>
          </a:p>
        </p:txBody>
      </p:sp>
      <p:sp>
        <p:nvSpPr>
          <p:cNvPr id="2" name="subtitle">
            <a:extLst xmlns:a="http://schemas.openxmlformats.org/drawingml/2006/main">
              <a:ext uri="{FF2B5EF4-FFF2-40B4-BE49-F238E27FC236}">
                <a16:creationId xmlns:a16="http://schemas.microsoft.com/office/drawing/2014/main" id="{859582D0-3EA1-4560-981A-728F0BAF6E40}"/>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36370"/>
                </a:solidFill>
                <a:latin typeface="Arial"/>
                <a:ea typeface="Arial"/>
                <a:cs typeface="Arial"/>
              </a:defRPr>
            </a:pPr>
            <a:r>
              <a:rPr sz="1725" b="0">
                <a:solidFill>
                  <a:srgbClr val="536370"/>
                </a:solidFill>
                <a:latin typeface="Arial"/>
                <a:ea typeface="Arial"/>
                <a:cs typeface="Arial"/>
              </a:rPr>
              <a:t>Repository validation and application packaging</a:t>
            </a:r>
          </a:p>
        </p:txBody>
      </p:sp>
      <p:sp>
        <p:nvSpPr>
          <p:cNvPr id="3" name="page-number">
            <a:extLst xmlns:a="http://schemas.openxmlformats.org/drawingml/2006/main">
              <a:ext uri="{FF2B5EF4-FFF2-40B4-BE49-F238E27FC236}">
                <a16:creationId xmlns:a16="http://schemas.microsoft.com/office/drawing/2014/main" id="{3DF33A47-A177-4BA4-BB5F-2B5A8D2E943D}"/>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B7252C"/>
                </a:solidFill>
                <a:latin typeface="Arial"/>
                <a:ea typeface="Arial"/>
                <a:cs typeface="Arial"/>
              </a:defRPr>
            </a:pPr>
            <a:r>
              <a:rPr sz="1875" b="1">
                <a:solidFill>
                  <a:srgbClr val="B7252C"/>
                </a:solidFill>
                <a:latin typeface="Arial"/>
                <a:ea typeface="Arial"/>
                <a:cs typeface="Arial"/>
              </a:rPr>
              <a:t>02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b647e74440a4bee"/>
          <a:stretch xmlns:a="http://schemas.openxmlformats.org/drawingml/2006/main"/>
        </p:blipFill>
        <p:spPr>
          <a:xfrm xmlns:a="http://schemas.openxmlformats.org/drawingml/2006/main">
            <a:off x="304800" y="1681719"/>
            <a:ext cx="11582400" cy="2980212"/>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839A2F4C-A6F2-4C39-B224-8FA098ADC191}"/>
              </a:ext>
            </a:extLst>
          </p:cNvPr>
          <p:cNvSpPr>
            <a:spLocks xmlns:a="http://schemas.openxmlformats.org/drawingml/2006/main" noGrp="1"/>
          </p:cNvSpPr>
          <p:nvPr/>
        </p:nvSpPr>
        <p:spPr>
          <a:xfrm xmlns:a="http://schemas.openxmlformats.org/drawingml/2006/main">
            <a:off x="495300" y="50101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B7252C"/>
                </a:solidFill>
                <a:latin typeface="Arial"/>
                <a:ea typeface="Arial"/>
                <a:cs typeface="Arial"/>
              </a:defRPr>
            </a:pPr>
            <a:r>
              <a:rPr sz="2100" b="1">
                <a:solidFill>
                  <a:srgbClr val="B7252C"/>
                </a:solidFill>
                <a:latin typeface="Arial"/>
                <a:ea typeface="Arial"/>
                <a:cs typeface="Arial"/>
              </a:rPr>
              <a:t>Implemented in ci.yml</a:t>
            </a:r>
          </a:p>
        </p:txBody>
      </p:sp>
      <p:sp>
        <p:nvSpPr>
          <p:cNvPr id="6" name="text">
            <a:extLst xmlns:a="http://schemas.openxmlformats.org/drawingml/2006/main">
              <a:ext uri="{FF2B5EF4-FFF2-40B4-BE49-F238E27FC236}">
                <a16:creationId xmlns:a16="http://schemas.microsoft.com/office/drawing/2014/main" id="{117FAF71-6BBE-41B1-B3C1-FCA78B6E44CE}"/>
              </a:ext>
            </a:extLst>
          </p:cNvPr>
          <p:cNvSpPr>
            <a:spLocks xmlns:a="http://schemas.openxmlformats.org/drawingml/2006/main" noGrp="1"/>
          </p:cNvSpPr>
          <p:nvPr/>
        </p:nvSpPr>
        <p:spPr>
          <a:xfrm xmlns:a="http://schemas.openxmlformats.org/drawingml/2006/main">
            <a:off x="495300" y="547687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Pushes and pull requests on main trigger Python 3.11.9 setup, dependency installation, compileall and pip check.</a:t>
            </a:r>
          </a:p>
        </p:txBody>
      </p:sp>
      <p:sp>
        <p:nvSpPr>
          <p:cNvPr id="7" name="text">
            <a:extLst xmlns:a="http://schemas.openxmlformats.org/drawingml/2006/main">
              <a:ext uri="{FF2B5EF4-FFF2-40B4-BE49-F238E27FC236}">
                <a16:creationId xmlns:a16="http://schemas.microsoft.com/office/drawing/2014/main" id="{79BB76A9-27E4-4EDE-B63C-CBC714BC1230}"/>
              </a:ext>
            </a:extLst>
          </p:cNvPr>
          <p:cNvSpPr>
            <a:spLocks xmlns:a="http://schemas.openxmlformats.org/drawingml/2006/main" noGrp="1"/>
          </p:cNvSpPr>
          <p:nvPr/>
        </p:nvSpPr>
        <p:spPr>
          <a:xfrm xmlns:a="http://schemas.openxmlformats.org/drawingml/2006/main">
            <a:off x="6315075" y="5010150"/>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00" b="1">
                <a:solidFill>
                  <a:srgbClr val="B7252C"/>
                </a:solidFill>
                <a:latin typeface="Arial"/>
                <a:ea typeface="Arial"/>
                <a:cs typeface="Arial"/>
              </a:defRPr>
            </a:pPr>
            <a:r>
              <a:rPr sz="2100" b="1">
                <a:solidFill>
                  <a:srgbClr val="B7252C"/>
                </a:solidFill>
                <a:latin typeface="Arial"/>
                <a:ea typeface="Arial"/>
                <a:cs typeface="Arial"/>
              </a:rPr>
              <a:t>Packaging and deployment</a:t>
            </a:r>
          </a:p>
        </p:txBody>
      </p:sp>
      <p:sp>
        <p:nvSpPr>
          <p:cNvPr id="8" name="text">
            <a:extLst xmlns:a="http://schemas.openxmlformats.org/drawingml/2006/main">
              <a:ext uri="{FF2B5EF4-FFF2-40B4-BE49-F238E27FC236}">
                <a16:creationId xmlns:a16="http://schemas.microsoft.com/office/drawing/2014/main" id="{3168C681-EBCC-4458-A395-58C87700AD18}"/>
              </a:ext>
            </a:extLst>
          </p:cNvPr>
          <p:cNvSpPr>
            <a:spLocks xmlns:a="http://schemas.openxmlformats.org/drawingml/2006/main" noGrp="1"/>
          </p:cNvSpPr>
          <p:nvPr/>
        </p:nvSpPr>
        <p:spPr>
          <a:xfrm xmlns:a="http://schemas.openxmlformats.org/drawingml/2006/main">
            <a:off x="6315075" y="5476875"/>
            <a:ext cx="52768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7212B"/>
                </a:solidFill>
                <a:latin typeface="Arial"/>
                <a:ea typeface="Arial"/>
                <a:cs typeface="Arial"/>
              </a:defRPr>
            </a:pPr>
            <a:r>
              <a:rPr sz="1875" b="0">
                <a:solidFill>
                  <a:srgbClr val="17212B"/>
                </a:solidFill>
                <a:latin typeface="Arial"/>
                <a:ea typeface="Arial"/>
                <a:cs typeface="Arial"/>
              </a:rPr>
              <a:t>The package job uploads lex-orion.tar.gz after validation. Cloud deployment remains a separate step.</a:t>
            </a:r>
          </a:p>
        </p:txBody>
      </p:sp>
    </p:spTree>
    <p:extLst>
      <p:ext uri="{BB962C8B-B14F-4D97-AF65-F5344CB8AC3E}">
        <p14:creationId xmlns:p14="http://schemas.microsoft.com/office/powerpoint/2010/main" val="1746995018"/>
      </p:ext>
    </p:extLst>
  </p:cSld>
</p:sld>
</file>

<file path=ppt/slides/slide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7FD0206-D193-4DFF-9893-44B45D7E4EA7}"/>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Kubernetes deployment, rollback and monitoring</a:t>
            </a:r>
          </a:p>
        </p:txBody>
      </p:sp>
      <p:sp>
        <p:nvSpPr>
          <p:cNvPr id="2" name="subtitle">
            <a:extLst xmlns:a="http://schemas.openxmlformats.org/drawingml/2006/main">
              <a:ext uri="{FF2B5EF4-FFF2-40B4-BE49-F238E27FC236}">
                <a16:creationId xmlns:a16="http://schemas.microsoft.com/office/drawing/2014/main" id="{B82650BB-C656-4D20-8030-9485169B8937}"/>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CDD6DE"/>
                </a:solidFill>
                <a:latin typeface="Arial"/>
                <a:ea typeface="Arial"/>
                <a:cs typeface="Arial"/>
              </a:defRPr>
            </a:pPr>
            <a:r>
              <a:rPr sz="1725" b="0">
                <a:solidFill>
                  <a:srgbClr val="CDD6DE"/>
                </a:solidFill>
                <a:latin typeface="Arial"/>
                <a:ea typeface="Arial"/>
                <a:cs typeface="Arial"/>
              </a:rPr>
              <a:t>Deployment configuration, rollout and recovery evidence</a:t>
            </a:r>
          </a:p>
        </p:txBody>
      </p:sp>
      <p:sp>
        <p:nvSpPr>
          <p:cNvPr id="3" name="page-number">
            <a:extLst xmlns:a="http://schemas.openxmlformats.org/drawingml/2006/main">
              <a:ext uri="{FF2B5EF4-FFF2-40B4-BE49-F238E27FC236}">
                <a16:creationId xmlns:a16="http://schemas.microsoft.com/office/drawing/2014/main" id="{77ED8A24-FDB5-4CD0-B7F0-440E16BE650F}"/>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CDD6DE"/>
                </a:solidFill>
                <a:latin typeface="Arial"/>
                <a:ea typeface="Arial"/>
                <a:cs typeface="Arial"/>
              </a:defRPr>
            </a:pPr>
            <a:r>
              <a:rPr sz="1875" b="1">
                <a:solidFill>
                  <a:srgbClr val="CDD6DE"/>
                </a:solidFill>
                <a:latin typeface="Arial"/>
                <a:ea typeface="Arial"/>
                <a:cs typeface="Arial"/>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c78c200ac4041e0"/>
          <a:stretch xmlns:a="http://schemas.openxmlformats.org/drawingml/2006/main"/>
        </p:blipFill>
        <p:spPr>
          <a:xfrm xmlns:a="http://schemas.openxmlformats.org/drawingml/2006/main">
            <a:off x="419191" y="1676400"/>
            <a:ext cx="7200718" cy="47625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4B083947-D5F6-4C6D-B812-7ED4C4E98B84}"/>
              </a:ext>
            </a:extLst>
          </p:cNvPr>
          <p:cNvSpPr>
            <a:spLocks xmlns:a="http://schemas.openxmlformats.org/drawingml/2006/main" noGrp="1"/>
          </p:cNvSpPr>
          <p:nvPr/>
        </p:nvSpPr>
        <p:spPr>
          <a:xfrm xmlns:a="http://schemas.openxmlformats.org/drawingml/2006/main">
            <a:off x="7943850" y="1685925"/>
            <a:ext cx="377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Deployment &amp; rollout</a:t>
            </a:r>
          </a:p>
        </p:txBody>
      </p:sp>
      <p:sp>
        <p:nvSpPr>
          <p:cNvPr id="6" name="text">
            <a:extLst xmlns:a="http://schemas.openxmlformats.org/drawingml/2006/main">
              <a:ext uri="{FF2B5EF4-FFF2-40B4-BE49-F238E27FC236}">
                <a16:creationId xmlns:a16="http://schemas.microsoft.com/office/drawing/2014/main" id="{364CC31D-1C9B-4FE8-BB41-494668E356AD}"/>
              </a:ext>
            </a:extLst>
          </p:cNvPr>
          <p:cNvSpPr>
            <a:spLocks xmlns:a="http://schemas.openxmlformats.org/drawingml/2006/main" noGrp="1"/>
          </p:cNvSpPr>
          <p:nvPr/>
        </p:nvSpPr>
        <p:spPr>
          <a:xfrm xmlns:a="http://schemas.openxmlformats.org/drawingml/2006/main">
            <a:off x="7943850" y="2085975"/>
            <a:ext cx="3771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6667"/>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Rolling update completed. Two replicas use readiness/liveness probes; maxUnavailable 0 and maxSurge 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c10da7f8e904862"/>
          <a:stretch xmlns:a="http://schemas.openxmlformats.org/drawingml/2006/main"/>
        </p:blipFill>
        <p:spPr>
          <a:xfrm xmlns:a="http://schemas.openxmlformats.org/drawingml/2006/main">
            <a:off x="7943850" y="2857500"/>
            <a:ext cx="3771900" cy="63817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E5444C4-0050-4265-8A39-B4B85F4C5744}"/>
              </a:ext>
            </a:extLst>
          </p:cNvPr>
          <p:cNvSpPr>
            <a:spLocks xmlns:a="http://schemas.openxmlformats.org/drawingml/2006/main" noGrp="1"/>
          </p:cNvSpPr>
          <p:nvPr/>
        </p:nvSpPr>
        <p:spPr>
          <a:xfrm xmlns:a="http://schemas.openxmlformats.org/drawingml/2006/main">
            <a:off x="7943850" y="4924425"/>
            <a:ext cx="3771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175" b="1">
                <a:solidFill>
                  <a:srgbClr val="9CCC72"/>
                </a:solidFill>
                <a:latin typeface="Arial"/>
                <a:ea typeface="Arial"/>
                <a:cs typeface="Arial"/>
              </a:defRPr>
            </a:pPr>
            <a:r>
              <a:rPr sz="2175" b="1">
                <a:solidFill>
                  <a:srgbClr val="9CCC72"/>
                </a:solidFill>
                <a:latin typeface="Arial"/>
                <a:ea typeface="Arial"/>
                <a:cs typeface="Arial"/>
              </a:rPr>
              <a:t>Prometheus and Grafana</a:t>
            </a:r>
          </a:p>
        </p:txBody>
      </p:sp>
      <p:sp>
        <p:nvSpPr>
          <p:cNvPr id="9" name="text">
            <a:extLst xmlns:a="http://schemas.openxmlformats.org/drawingml/2006/main">
              <a:ext uri="{FF2B5EF4-FFF2-40B4-BE49-F238E27FC236}">
                <a16:creationId xmlns:a16="http://schemas.microsoft.com/office/drawing/2014/main" id="{5F0DFE8F-05CE-43B7-868A-76DE76A259D1}"/>
              </a:ext>
            </a:extLst>
          </p:cNvPr>
          <p:cNvSpPr>
            <a:spLocks xmlns:a="http://schemas.openxmlformats.org/drawingml/2006/main" noGrp="1"/>
          </p:cNvSpPr>
          <p:nvPr/>
        </p:nvSpPr>
        <p:spPr>
          <a:xfrm xmlns:a="http://schemas.openxmlformats.org/drawingml/2006/main">
            <a:off x="7943850" y="4000500"/>
            <a:ext cx="37719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556"/>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Undo restored lex-orion:task3-v1. Rollout status succeeded; both pods are Running (1/1).</a:t>
            </a:r>
          </a:p>
        </p:txBody>
      </p:sp>
      <p:sp>
        <p:nvSpPr>
          <p:cNvPr id="10" name="text">
            <a:extLst xmlns:a="http://schemas.openxmlformats.org/drawingml/2006/main">
              <a:ext uri="{FF2B5EF4-FFF2-40B4-BE49-F238E27FC236}">
                <a16:creationId xmlns:a16="http://schemas.microsoft.com/office/drawing/2014/main" id="{F63E0E8D-39CE-486A-9793-44284C52DA25}"/>
              </a:ext>
            </a:extLst>
          </p:cNvPr>
          <p:cNvSpPr>
            <a:spLocks xmlns:a="http://schemas.openxmlformats.org/drawingml/2006/main" noGrp="1"/>
          </p:cNvSpPr>
          <p:nvPr/>
        </p:nvSpPr>
        <p:spPr>
          <a:xfrm xmlns:a="http://schemas.openxmlformats.org/drawingml/2006/main">
            <a:off x="457200" y="64865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CDD6DE"/>
                </a:solidFill>
                <a:latin typeface="Arial"/>
                <a:ea typeface="Arial"/>
                <a:cs typeface="Arial"/>
              </a:defRPr>
            </a:pPr>
            <a:r>
              <a:rPr sz="1500" b="0">
                <a:solidFill>
                  <a:srgbClr val="CDD6DE"/>
                </a:solidFill>
                <a:latin typeface="Arial"/>
                <a:ea typeface="Arial"/>
                <a:cs typeface="Arial"/>
              </a:rPr>
              <a:t>HTTP latency measures server responses, not LLM generation time.</a:t>
            </a:r>
          </a:p>
        </p:txBody>
      </p:sp>
      <p:sp>
        <p:nvSpPr>
          <p:cNvPr id="14" name="rollback-summary-heading">
            <a:extLst xmlns:a="http://schemas.openxmlformats.org/drawingml/2006/main">
              <a:ext uri="{FF2B5EF4-FFF2-40B4-BE49-F238E27FC236}">
                <a16:creationId xmlns:a16="http://schemas.microsoft.com/office/drawing/2014/main" id="{086A05CE-1C81-4928-8639-BC6C7ABA65CD}"/>
              </a:ext>
            </a:extLst>
          </p:cNvPr>
          <p:cNvSpPr>
            <a:spLocks xmlns:a="http://schemas.openxmlformats.org/drawingml/2006/main" noGrp="1"/>
          </p:cNvSpPr>
          <p:nvPr/>
        </p:nvSpPr>
        <p:spPr>
          <a:xfrm xmlns:a="http://schemas.openxmlformats.org/drawingml/2006/main">
            <a:off x="7943850" y="3619500"/>
            <a:ext cx="3771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buNone/>
              <a:defRPr b="1">
                <a:solidFill>
                  <a:srgbClr val="FFFFFF"/>
                </a:solidFill>
                <a:latin typeface="Arial"/>
                <a:ea typeface="Arial"/>
                <a:cs typeface="Arial"/>
              </a:defRPr>
            </a:pPr>
            <a:r>
              <a:rPr b="1">
                <a:solidFill>
                  <a:srgbClr val="FFFFFF"/>
                </a:solidFill>
                <a:latin typeface="Arial"/>
                <a:ea typeface="Arial"/>
                <a:cs typeface="Arial"/>
              </a:rPr>
              <a:t>Rollback verified</a:t>
            </a:r>
          </a:p>
        </p:txBody>
      </p:sp>
      <p:sp>
        <p:nvSpPr>
          <p:cNvPr id="15" name="monitoring-summary">
            <a:extLst xmlns:a="http://schemas.openxmlformats.org/drawingml/2006/main">
              <a:ext uri="{FF2B5EF4-FFF2-40B4-BE49-F238E27FC236}">
                <a16:creationId xmlns:a16="http://schemas.microsoft.com/office/drawing/2014/main" id="{1D44F6D7-E1EB-47CF-BEA3-C96D61B48BE8}"/>
              </a:ext>
            </a:extLst>
          </p:cNvPr>
          <p:cNvSpPr>
            <a:spLocks xmlns:a="http://schemas.openxmlformats.org/drawingml/2006/main" noGrp="1"/>
          </p:cNvSpPr>
          <p:nvPr/>
        </p:nvSpPr>
        <p:spPr>
          <a:xfrm xmlns:a="http://schemas.openxmlformats.org/drawingml/2006/main">
            <a:off x="7943850" y="5314950"/>
            <a:ext cx="37719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202"/>
          </a:bodyPr>
          <a:lstStyle xmlns:a="http://schemas.openxmlformats.org/drawingml/2006/main"/>
          <a:p xmlns:a="http://schemas.openxmlformats.org/drawingml/2006/main">
            <a:pPr>
              <a:buNone/>
              <a:defRPr sz="1650">
                <a:solidFill>
                  <a:srgbClr val="CDD6DE"/>
                </a:solidFill>
                <a:latin typeface="Arial"/>
                <a:ea typeface="Arial"/>
                <a:cs typeface="Arial"/>
              </a:defRPr>
            </a:pPr>
            <a:r>
              <a:rPr sz="1650">
                <a:solidFill>
                  <a:srgbClr val="CDD6DE"/>
                </a:solidFill>
                <a:latin typeface="Arial"/>
                <a:ea typeface="Arial"/>
                <a:cs typeface="Arial"/>
              </a:rPr>
              <a:t>Availability, uptime, HTTP latency and errors are tracked in Grafana. JSON logs capture each request.</a:t>
            </a:r>
          </a:p>
        </p:txBody>
      </p:sp>
    </p:spTree>
    <p:extLst>
      <p:ext uri="{BB962C8B-B14F-4D97-AF65-F5344CB8AC3E}">
        <p14:creationId xmlns:p14="http://schemas.microsoft.com/office/powerpoint/2010/main" val="1835294189"/>
      </p:ext>
    </p:extLst>
  </p:cSld>
</p:sld>
</file>

<file path=ppt/slides/slide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8" name="evidence-title">
            <a:extLst xmlns:a="http://schemas.openxmlformats.org/drawingml/2006/main">
              <a:ext uri="{FF2B5EF4-FFF2-40B4-BE49-F238E27FC236}">
                <a16:creationId xmlns:a16="http://schemas.microsoft.com/office/drawing/2014/main" id="{04FE0E9D-32CE-4098-9462-9D9DD68A9BE5}"/>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Task 3: Kubernetes Rollback Verification</a:t>
            </a:r>
          </a:p>
        </p:txBody>
      </p:sp>
      <p:sp>
        <p:nvSpPr>
          <p:cNvPr id="2" name="evidence-subtitle">
            <a:extLst xmlns:a="http://schemas.openxmlformats.org/drawingml/2006/main">
              <a:ext uri="{FF2B5EF4-FFF2-40B4-BE49-F238E27FC236}">
                <a16:creationId xmlns:a16="http://schemas.microsoft.com/office/drawing/2014/main" id="{FBDF49DA-4C24-4803-AEEB-7E9D67D7E1E9}"/>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875">
                <a:solidFill>
                  <a:srgbClr val="CDD6DE"/>
                </a:solidFill>
                <a:latin typeface="Arial"/>
                <a:ea typeface="Arial"/>
                <a:cs typeface="Arial"/>
              </a:defRPr>
            </a:pPr>
            <a:r>
              <a:rPr sz="1875">
                <a:solidFill>
                  <a:srgbClr val="CDD6DE"/>
                </a:solidFill>
                <a:latin typeface="Arial"/>
                <a:ea typeface="Arial"/>
                <a:cs typeface="Arial"/>
              </a:rPr>
              <a:t>Saved revisions, successful undo, restored image and healthy pods</a:t>
            </a:r>
          </a:p>
        </p:txBody>
      </p:sp>
      <p:sp>
        <p:nvSpPr>
          <p:cNvPr id="3" name="evidence-page-number">
            <a:extLst xmlns:a="http://schemas.openxmlformats.org/drawingml/2006/main">
              <a:ext uri="{FF2B5EF4-FFF2-40B4-BE49-F238E27FC236}">
                <a16:creationId xmlns:a16="http://schemas.microsoft.com/office/drawing/2014/main" id="{727E87A9-A148-4243-BAED-C2A198FBAB3D}"/>
              </a:ext>
            </a:extLst>
          </p:cNvPr>
          <p:cNvSpPr>
            <a:spLocks xmlns:a="http://schemas.openxmlformats.org/drawingml/2006/main" noGrp="1"/>
          </p:cNvSpPr>
          <p:nvPr/>
        </p:nvSpPr>
        <p:spPr>
          <a:xfrm xmlns:a="http://schemas.openxmlformats.org/drawingml/2006/main">
            <a:off x="11163300" y="4095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1500" b="1">
                <a:solidFill>
                  <a:srgbClr val="CDD6DE"/>
                </a:solidFill>
                <a:latin typeface="Arial"/>
                <a:ea typeface="Arial"/>
                <a:cs typeface="Arial"/>
              </a:defRPr>
            </a:pPr>
            <a:r>
              <a:rPr sz="1500" b="1">
                <a:solidFill>
                  <a:srgbClr val="CDD6DE"/>
                </a:solidFill>
                <a:latin typeface="Arial"/>
                <a:ea typeface="Arial"/>
                <a:cs typeface="Arial"/>
              </a:rPr>
              <a:t>04</a:t>
            </a:r>
          </a:p>
        </p:txBody>
      </p:sp>
      <p:sp>
        <p:nvSpPr>
          <p:cNvPr id="4" name="history-label">
            <a:extLst xmlns:a="http://schemas.openxmlformats.org/drawingml/2006/main">
              <a:ext uri="{FF2B5EF4-FFF2-40B4-BE49-F238E27FC236}">
                <a16:creationId xmlns:a16="http://schemas.microsoft.com/office/drawing/2014/main" id="{C58749B8-0571-4528-9E6B-CDBB69D7BED4}"/>
              </a:ext>
            </a:extLst>
          </p:cNvPr>
          <p:cNvSpPr>
            <a:spLocks xmlns:a="http://schemas.openxmlformats.org/drawingml/2006/main" noGrp="1"/>
          </p:cNvSpPr>
          <p:nvPr/>
        </p:nvSpPr>
        <p:spPr>
          <a:xfrm xmlns:a="http://schemas.openxmlformats.org/drawingml/2006/main">
            <a:off x="457200" y="15811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Revision history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802003eeb20438f"/>
          <a:stretch xmlns:a="http://schemas.openxmlformats.org/drawingml/2006/main"/>
        </p:blipFill>
        <p:spPr>
          <a:xfrm xmlns:a="http://schemas.openxmlformats.org/drawingml/2006/main">
            <a:off x="457200" y="1949953"/>
            <a:ext cx="11277600" cy="1815093"/>
          </a:xfrm>
          <a:prstGeom xmlns:a="http://schemas.openxmlformats.org/drawingml/2006/main" prst="rect">
            <a:avLst/>
          </a:prstGeom>
        </p:spPr>
      </p:pic>
      <p:sp>
        <p:nvSpPr>
          <p:cNvPr id="6" name="rollback-label">
            <a:extLst xmlns:a="http://schemas.openxmlformats.org/drawingml/2006/main">
              <a:ext uri="{FF2B5EF4-FFF2-40B4-BE49-F238E27FC236}">
                <a16:creationId xmlns:a16="http://schemas.microsoft.com/office/drawing/2014/main" id="{61C30877-48D0-4E19-9F5C-0AE3A07251D8}"/>
              </a:ext>
            </a:extLst>
          </p:cNvPr>
          <p:cNvSpPr>
            <a:spLocks xmlns:a="http://schemas.openxmlformats.org/drawingml/2006/main" noGrp="1"/>
          </p:cNvSpPr>
          <p:nvPr/>
        </p:nvSpPr>
        <p:spPr>
          <a:xfrm xmlns:a="http://schemas.openxmlformats.org/drawingml/2006/main">
            <a:off x="457200" y="38862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Rollback and health verification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865d53d22264756"/>
          <a:stretch xmlns:a="http://schemas.openxmlformats.org/drawingml/2006/main"/>
        </p:blipFill>
        <p:spPr>
          <a:xfrm xmlns:a="http://schemas.openxmlformats.org/drawingml/2006/main">
            <a:off x="457200" y="4454081"/>
            <a:ext cx="11277600" cy="1931289"/>
          </a:xfrm>
          <a:prstGeom xmlns:a="http://schemas.openxmlformats.org/drawingml/2006/main" prst="rect">
            <a:avLst/>
          </a:prstGeom>
        </p:spPr>
      </p:pic>
    </p:spTree>
    <p:extLst>
      <p:ext uri="{BB962C8B-B14F-4D97-AF65-F5344CB8AC3E}">
        <p14:creationId xmlns:p14="http://schemas.microsoft.com/office/powerpoint/2010/main" val="1233403172"/>
      </p:ext>
    </p:extLst>
  </p:cSld>
</p:sld>
</file>

<file path=ppt/slides/slide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BB5F57B-A159-4191-A651-EE9A9E55F16B}"/>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Challenges and responses</a:t>
            </a:r>
          </a:p>
        </p:txBody>
      </p:sp>
      <p:sp>
        <p:nvSpPr>
          <p:cNvPr id="2" name="subtitle">
            <a:extLst xmlns:a="http://schemas.openxmlformats.org/drawingml/2006/main">
              <a:ext uri="{FF2B5EF4-FFF2-40B4-BE49-F238E27FC236}">
                <a16:creationId xmlns:a16="http://schemas.microsoft.com/office/drawing/2014/main" id="{F907C62F-D77C-41CF-80C9-A04B55B28686}"/>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CDD6DE"/>
                </a:solidFill>
                <a:latin typeface="Arial"/>
                <a:ea typeface="Arial"/>
                <a:cs typeface="Arial"/>
              </a:defRPr>
            </a:pPr>
            <a:r>
              <a:rPr sz="1725" b="0">
                <a:solidFill>
                  <a:srgbClr val="CDD6DE"/>
                </a:solidFill>
                <a:latin typeface="Arial"/>
                <a:ea typeface="Arial"/>
                <a:cs typeface="Arial"/>
              </a:rPr>
              <a:t>Issues observed during deployment and monitoring</a:t>
            </a:r>
          </a:p>
        </p:txBody>
      </p:sp>
      <p:sp>
        <p:nvSpPr>
          <p:cNvPr id="3" name="page-number">
            <a:extLst xmlns:a="http://schemas.openxmlformats.org/drawingml/2006/main">
              <a:ext uri="{FF2B5EF4-FFF2-40B4-BE49-F238E27FC236}">
                <a16:creationId xmlns:a16="http://schemas.microsoft.com/office/drawing/2014/main" id="{C6A95C52-D4F7-4B6D-85CD-54809AC61352}"/>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CDD6DE"/>
                </a:solidFill>
                <a:latin typeface="Arial"/>
                <a:ea typeface="Arial"/>
                <a:cs typeface="Arial"/>
              </a:defRPr>
            </a:pPr>
            <a:r>
              <a:rPr sz="1875" b="1">
                <a:solidFill>
                  <a:srgbClr val="CDD6DE"/>
                </a:solidFill>
                <a:latin typeface="Arial"/>
                <a:ea typeface="Arial"/>
                <a:cs typeface="Arial"/>
              </a:rPr>
              <a:t>05</a:t>
            </a:r>
          </a:p>
        </p:txBody>
      </p:sp>
      <p:sp>
        <p:nvSpPr>
          <p:cNvPr id="4" name="text">
            <a:extLst xmlns:a="http://schemas.openxmlformats.org/drawingml/2006/main">
              <a:ext uri="{FF2B5EF4-FFF2-40B4-BE49-F238E27FC236}">
                <a16:creationId xmlns:a16="http://schemas.microsoft.com/office/drawing/2014/main" id="{37EDFF13-EEE9-45A9-9394-C3C224C042CB}"/>
              </a:ext>
            </a:extLst>
          </p:cNvPr>
          <p:cNvSpPr>
            <a:spLocks xmlns:a="http://schemas.openxmlformats.org/drawingml/2006/main" noGrp="1"/>
          </p:cNvSpPr>
          <p:nvPr/>
        </p:nvSpPr>
        <p:spPr>
          <a:xfrm xmlns:a="http://schemas.openxmlformats.org/drawingml/2006/main">
            <a:off x="476250" y="1724025"/>
            <a:ext cx="4686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Image availability</a:t>
            </a:r>
          </a:p>
        </p:txBody>
      </p:sp>
      <p:sp>
        <p:nvSpPr>
          <p:cNvPr id="5" name="text">
            <a:extLst xmlns:a="http://schemas.openxmlformats.org/drawingml/2006/main">
              <a:ext uri="{FF2B5EF4-FFF2-40B4-BE49-F238E27FC236}">
                <a16:creationId xmlns:a16="http://schemas.microsoft.com/office/drawing/2014/main" id="{697DD732-2E46-469D-9186-084FBFBD8CDF}"/>
              </a:ext>
            </a:extLst>
          </p:cNvPr>
          <p:cNvSpPr>
            <a:spLocks xmlns:a="http://schemas.openxmlformats.org/drawingml/2006/main" noGrp="1"/>
          </p:cNvSpPr>
          <p:nvPr/>
        </p:nvSpPr>
        <p:spPr>
          <a:xfrm xmlns:a="http://schemas.openxmlformats.org/drawingml/2006/main">
            <a:off x="476250" y="2200275"/>
            <a:ext cx="4781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Initial pods showed ErrImagePull. Local image tags and pull policy must match the Minikube runtime.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5763b8a71c740c8"/>
          <a:stretch xmlns:a="http://schemas.openxmlformats.org/drawingml/2006/main"/>
        </p:blipFill>
        <p:spPr>
          <a:xfrm xmlns:a="http://schemas.openxmlformats.org/drawingml/2006/main">
            <a:off x="6213244" y="1714500"/>
            <a:ext cx="5337637" cy="1762125"/>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2FF7A2D7-6D93-4FBB-A50F-32DFDDCFBBC9}"/>
              </a:ext>
            </a:extLst>
          </p:cNvPr>
          <p:cNvSpPr>
            <a:spLocks xmlns:a="http://schemas.openxmlformats.org/drawingml/2006/main" noGrp="1"/>
          </p:cNvSpPr>
          <p:nvPr/>
        </p:nvSpPr>
        <p:spPr>
          <a:xfrm xmlns:a="http://schemas.openxmlformats.org/drawingml/2006/main">
            <a:off x="476250" y="3505200"/>
            <a:ext cx="468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Local service access</a:t>
            </a:r>
          </a:p>
        </p:txBody>
      </p:sp>
      <p:sp>
        <p:nvSpPr>
          <p:cNvPr id="8" name="text">
            <a:extLst xmlns:a="http://schemas.openxmlformats.org/drawingml/2006/main">
              <a:ext uri="{FF2B5EF4-FFF2-40B4-BE49-F238E27FC236}">
                <a16:creationId xmlns:a16="http://schemas.microsoft.com/office/drawing/2014/main" id="{528E4B49-9C59-4FB9-8368-E7BBA43BE165}"/>
              </a:ext>
            </a:extLst>
          </p:cNvPr>
          <p:cNvSpPr>
            <a:spLocks xmlns:a="http://schemas.openxmlformats.org/drawingml/2006/main" noGrp="1"/>
          </p:cNvSpPr>
          <p:nvPr/>
        </p:nvSpPr>
        <p:spPr>
          <a:xfrm xmlns:a="http://schemas.openxmlformats.org/drawingml/2006/main">
            <a:off x="476250" y="3981450"/>
            <a:ext cx="47815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The Service uses ClusterIP. minikube service created a local tunnel, and its terminal must stay open.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d7662032d0a473c"/>
          <a:stretch xmlns:a="http://schemas.openxmlformats.org/drawingml/2006/main"/>
        </p:blipFill>
        <p:spPr>
          <a:xfrm xmlns:a="http://schemas.openxmlformats.org/drawingml/2006/main">
            <a:off x="6048375" y="3754688"/>
            <a:ext cx="5667375" cy="151079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E9D1B80-FBC0-48E5-B33E-600ACF1CFAB7}"/>
              </a:ext>
            </a:extLst>
          </p:cNvPr>
          <p:cNvSpPr>
            <a:spLocks xmlns:a="http://schemas.openxmlformats.org/drawingml/2006/main" noGrp="1"/>
          </p:cNvSpPr>
          <p:nvPr/>
        </p:nvSpPr>
        <p:spPr>
          <a:xfrm xmlns:a="http://schemas.openxmlformats.org/drawingml/2006/main">
            <a:off x="476250" y="536257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Monitoring compatibility</a:t>
            </a:r>
          </a:p>
        </p:txBody>
      </p:sp>
      <p:sp>
        <p:nvSpPr>
          <p:cNvPr id="11" name="text">
            <a:extLst xmlns:a="http://schemas.openxmlformats.org/drawingml/2006/main">
              <a:ext uri="{FF2B5EF4-FFF2-40B4-BE49-F238E27FC236}">
                <a16:creationId xmlns:a16="http://schemas.microsoft.com/office/drawing/2014/main" id="{F1BEE34A-4AF3-42C4-A0B7-9D6CD27EB51C}"/>
              </a:ext>
            </a:extLst>
          </p:cNvPr>
          <p:cNvSpPr>
            <a:spLocks xmlns:a="http://schemas.openxmlformats.org/drawingml/2006/main" noGrp="1"/>
          </p:cNvSpPr>
          <p:nvPr/>
        </p:nvSpPr>
        <p:spPr>
          <a:xfrm xmlns:a="http://schemas.openxmlformats.org/drawingml/2006/main">
            <a:off x="476250" y="581025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CDD6DE"/>
                </a:solidFill>
                <a:latin typeface="Arial"/>
                <a:ea typeface="Arial"/>
                <a:cs typeface="Arial"/>
              </a:defRPr>
            </a:pPr>
            <a:r>
              <a:rPr sz="1875" b="0">
                <a:solidFill>
                  <a:srgbClr val="CDD6DE"/>
                </a:solidFill>
                <a:latin typeface="Arial"/>
                <a:ea typeface="Arial"/>
                <a:cs typeface="Arial"/>
              </a:rPr>
              <a:t>The HTTP instrumentation uses Streamlit 1.44.1. Pinning compatible versions makes the setup repeatable.</a:t>
            </a:r>
          </a:p>
        </p:txBody>
      </p:sp>
    </p:spTree>
    <p:extLst>
      <p:ext uri="{BB962C8B-B14F-4D97-AF65-F5344CB8AC3E}">
        <p14:creationId xmlns:p14="http://schemas.microsoft.com/office/powerpoint/2010/main" val="20154926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7BAC909-B38A-414B-BD89-D0A972F02A90}"/>
              </a:ext>
            </a:extLst>
          </p:cNvPr>
          <p:cNvSpPr>
            <a:spLocks xmlns:a="http://schemas.openxmlformats.org/drawingml/2006/main" noGrp="1"/>
          </p:cNvSpPr>
          <p:nvPr/>
        </p:nvSpPr>
        <p:spPr>
          <a:xfrm xmlns:a="http://schemas.openxmlformats.org/drawingml/2006/main">
            <a:off x="457200" y="3619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7212B"/>
                </a:solidFill>
                <a:latin typeface="Arial"/>
                <a:ea typeface="Arial"/>
                <a:cs typeface="Arial"/>
              </a:defRPr>
            </a:pPr>
            <a:r>
              <a:rPr sz="3450" b="1">
                <a:solidFill>
                  <a:srgbClr val="17212B"/>
                </a:solidFill>
                <a:latin typeface="Arial"/>
                <a:ea typeface="Arial"/>
                <a:cs typeface="Arial"/>
              </a:rPr>
              <a:t>Lessons learned</a:t>
            </a:r>
          </a:p>
        </p:txBody>
      </p:sp>
      <p:sp>
        <p:nvSpPr>
          <p:cNvPr id="2" name="subtitle">
            <a:extLst xmlns:a="http://schemas.openxmlformats.org/drawingml/2006/main">
              <a:ext uri="{FF2B5EF4-FFF2-40B4-BE49-F238E27FC236}">
                <a16:creationId xmlns:a16="http://schemas.microsoft.com/office/drawing/2014/main" id="{ADE4788A-6960-4DFD-A1EB-D0E9362079DD}"/>
              </a:ext>
            </a:extLst>
          </p:cNvPr>
          <p:cNvSpPr>
            <a:spLocks xmlns:a="http://schemas.openxmlformats.org/drawingml/2006/main" noGrp="1"/>
          </p:cNvSpPr>
          <p:nvPr/>
        </p:nvSpPr>
        <p:spPr>
          <a:xfrm xmlns:a="http://schemas.openxmlformats.org/drawingml/2006/main">
            <a:off x="476250" y="10477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0">
                <a:solidFill>
                  <a:srgbClr val="536370"/>
                </a:solidFill>
                <a:latin typeface="Arial"/>
                <a:ea typeface="Arial"/>
                <a:cs typeface="Arial"/>
              </a:defRPr>
            </a:pPr>
            <a:r>
              <a:rPr sz="1725" b="0">
                <a:solidFill>
                  <a:srgbClr val="536370"/>
                </a:solidFill>
                <a:latin typeface="Arial"/>
                <a:ea typeface="Arial"/>
                <a:cs typeface="Arial"/>
              </a:rPr>
              <a:t>Reflection on the completed implementation</a:t>
            </a:r>
          </a:p>
        </p:txBody>
      </p:sp>
      <p:sp>
        <p:nvSpPr>
          <p:cNvPr id="3" name="page-number">
            <a:extLst xmlns:a="http://schemas.openxmlformats.org/drawingml/2006/main">
              <a:ext uri="{FF2B5EF4-FFF2-40B4-BE49-F238E27FC236}">
                <a16:creationId xmlns:a16="http://schemas.microsoft.com/office/drawing/2014/main" id="{2A34F8E5-6D2D-4E2E-8B5B-90D9B96174E1}"/>
              </a:ext>
            </a:extLst>
          </p:cNvPr>
          <p:cNvSpPr>
            <a:spLocks xmlns:a="http://schemas.openxmlformats.org/drawingml/2006/main" noGrp="1"/>
          </p:cNvSpPr>
          <p:nvPr/>
        </p:nvSpPr>
        <p:spPr>
          <a:xfrm xmlns:a="http://schemas.openxmlformats.org/drawingml/2006/main">
            <a:off x="11334750" y="409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1">
                <a:solidFill>
                  <a:srgbClr val="B7252C"/>
                </a:solidFill>
                <a:latin typeface="Arial"/>
                <a:ea typeface="Arial"/>
                <a:cs typeface="Arial"/>
              </a:defRPr>
            </a:pPr>
            <a:r>
              <a:rPr sz="1875" b="1">
                <a:solidFill>
                  <a:srgbClr val="B7252C"/>
                </a:solidFill>
                <a:latin typeface="Arial"/>
                <a:ea typeface="Arial"/>
                <a:cs typeface="Arial"/>
              </a:rPr>
              <a:t>06</a:t>
            </a:r>
          </a:p>
        </p:txBody>
      </p:sp>
      <p:sp>
        <p:nvSpPr>
          <p:cNvPr id="4" name="text">
            <a:extLst xmlns:a="http://schemas.openxmlformats.org/drawingml/2006/main">
              <a:ext uri="{FF2B5EF4-FFF2-40B4-BE49-F238E27FC236}">
                <a16:creationId xmlns:a16="http://schemas.microsoft.com/office/drawing/2014/main" id="{5506B3BA-323A-4454-8E8A-C04FB1A0D925}"/>
              </a:ext>
            </a:extLst>
          </p:cNvPr>
          <p:cNvSpPr>
            <a:spLocks xmlns:a="http://schemas.openxmlformats.org/drawingml/2006/main" noGrp="1"/>
          </p:cNvSpPr>
          <p:nvPr/>
        </p:nvSpPr>
        <p:spPr>
          <a:xfrm xmlns:a="http://schemas.openxmlformats.org/drawingml/2006/main">
            <a:off x="504825" y="1704975"/>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C124E3DD-736E-44FE-9734-991E79F44AC9}"/>
              </a:ext>
            </a:extLst>
          </p:cNvPr>
          <p:cNvSpPr>
            <a:spLocks xmlns:a="http://schemas.openxmlformats.org/drawingml/2006/main" noGrp="1"/>
          </p:cNvSpPr>
          <p:nvPr/>
        </p:nvSpPr>
        <p:spPr>
          <a:xfrm xmlns:a="http://schemas.openxmlformats.org/drawingml/2006/main">
            <a:off x="1457325" y="1704975"/>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Early validation</a:t>
            </a:r>
          </a:p>
        </p:txBody>
      </p:sp>
      <p:sp>
        <p:nvSpPr>
          <p:cNvPr id="6" name="text">
            <a:extLst xmlns:a="http://schemas.openxmlformats.org/drawingml/2006/main">
              <a:ext uri="{FF2B5EF4-FFF2-40B4-BE49-F238E27FC236}">
                <a16:creationId xmlns:a16="http://schemas.microsoft.com/office/drawing/2014/main" id="{7DFE5571-46B3-4F44-86B0-73EF25A9DD3C}"/>
              </a:ext>
            </a:extLst>
          </p:cNvPr>
          <p:cNvSpPr>
            <a:spLocks xmlns:a="http://schemas.openxmlformats.org/drawingml/2006/main" noGrp="1"/>
          </p:cNvSpPr>
          <p:nvPr/>
        </p:nvSpPr>
        <p:spPr>
          <a:xfrm xmlns:a="http://schemas.openxmlformats.org/drawingml/2006/main">
            <a:off x="1457325" y="2143125"/>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Syntax and dependency checks create a repeatable gate before packaging.</a:t>
            </a:r>
          </a:p>
        </p:txBody>
      </p:sp>
      <p:sp>
        <p:nvSpPr>
          <p:cNvPr id="7" name="text">
            <a:extLst xmlns:a="http://schemas.openxmlformats.org/drawingml/2006/main">
              <a:ext uri="{FF2B5EF4-FFF2-40B4-BE49-F238E27FC236}">
                <a16:creationId xmlns:a16="http://schemas.microsoft.com/office/drawing/2014/main" id="{F6B244FE-8513-46C3-A81D-F6DA7D278332}"/>
              </a:ext>
            </a:extLst>
          </p:cNvPr>
          <p:cNvSpPr>
            <a:spLocks xmlns:a="http://schemas.openxmlformats.org/drawingml/2006/main" noGrp="1"/>
          </p:cNvSpPr>
          <p:nvPr/>
        </p:nvSpPr>
        <p:spPr>
          <a:xfrm xmlns:a="http://schemas.openxmlformats.org/drawingml/2006/main">
            <a:off x="504825" y="276225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2BC714E0-1CA7-424E-BC79-5155B62DD4E0}"/>
              </a:ext>
            </a:extLst>
          </p:cNvPr>
          <p:cNvSpPr>
            <a:spLocks xmlns:a="http://schemas.openxmlformats.org/drawingml/2006/main" noGrp="1"/>
          </p:cNvSpPr>
          <p:nvPr/>
        </p:nvSpPr>
        <p:spPr>
          <a:xfrm xmlns:a="http://schemas.openxmlformats.org/drawingml/2006/main">
            <a:off x="1457325" y="2762250"/>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Reproducible deployment</a:t>
            </a:r>
          </a:p>
        </p:txBody>
      </p:sp>
      <p:sp>
        <p:nvSpPr>
          <p:cNvPr id="9" name="text">
            <a:extLst xmlns:a="http://schemas.openxmlformats.org/drawingml/2006/main">
              <a:ext uri="{FF2B5EF4-FFF2-40B4-BE49-F238E27FC236}">
                <a16:creationId xmlns:a16="http://schemas.microsoft.com/office/drawing/2014/main" id="{11CC1042-8424-41A5-B39E-38E2960EDAC2}"/>
              </a:ext>
            </a:extLst>
          </p:cNvPr>
          <p:cNvSpPr>
            <a:spLocks xmlns:a="http://schemas.openxmlformats.org/drawingml/2006/main" noGrp="1"/>
          </p:cNvSpPr>
          <p:nvPr/>
        </p:nvSpPr>
        <p:spPr>
          <a:xfrm xmlns:a="http://schemas.openxmlformats.org/drawingml/2006/main">
            <a:off x="1457325" y="3200400"/>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Image tags, pull policy and cluster configuration must agree.</a:t>
            </a:r>
          </a:p>
        </p:txBody>
      </p:sp>
      <p:sp>
        <p:nvSpPr>
          <p:cNvPr id="10" name="text">
            <a:extLst xmlns:a="http://schemas.openxmlformats.org/drawingml/2006/main">
              <a:ext uri="{FF2B5EF4-FFF2-40B4-BE49-F238E27FC236}">
                <a16:creationId xmlns:a16="http://schemas.microsoft.com/office/drawing/2014/main" id="{6E325354-190C-4B51-A54B-E418D00AA253}"/>
              </a:ext>
            </a:extLst>
          </p:cNvPr>
          <p:cNvSpPr>
            <a:spLocks xmlns:a="http://schemas.openxmlformats.org/drawingml/2006/main" noGrp="1"/>
          </p:cNvSpPr>
          <p:nvPr/>
        </p:nvSpPr>
        <p:spPr>
          <a:xfrm xmlns:a="http://schemas.openxmlformats.org/drawingml/2006/main">
            <a:off x="504825" y="3819525"/>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9FE79057-AC4E-4AF3-B9D4-B52D9A0D724C}"/>
              </a:ext>
            </a:extLst>
          </p:cNvPr>
          <p:cNvSpPr>
            <a:spLocks xmlns:a="http://schemas.openxmlformats.org/drawingml/2006/main" noGrp="1"/>
          </p:cNvSpPr>
          <p:nvPr/>
        </p:nvSpPr>
        <p:spPr>
          <a:xfrm xmlns:a="http://schemas.openxmlformats.org/drawingml/2006/main">
            <a:off x="1457325" y="3819525"/>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Useful operational signals</a:t>
            </a:r>
          </a:p>
        </p:txBody>
      </p:sp>
      <p:sp>
        <p:nvSpPr>
          <p:cNvPr id="12" name="text">
            <a:extLst xmlns:a="http://schemas.openxmlformats.org/drawingml/2006/main">
              <a:ext uri="{FF2B5EF4-FFF2-40B4-BE49-F238E27FC236}">
                <a16:creationId xmlns:a16="http://schemas.microsoft.com/office/drawing/2014/main" id="{A5008B88-AE15-4167-9DF5-F5947DE3A431}"/>
              </a:ext>
            </a:extLst>
          </p:cNvPr>
          <p:cNvSpPr>
            <a:spLocks xmlns:a="http://schemas.openxmlformats.org/drawingml/2006/main" noGrp="1"/>
          </p:cNvSpPr>
          <p:nvPr/>
        </p:nvSpPr>
        <p:spPr>
          <a:xfrm xmlns:a="http://schemas.openxmlformats.org/drawingml/2006/main">
            <a:off x="1457325" y="4257675"/>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Readiness checks establish health. HTTP metrics and logs help explain failures.</a:t>
            </a:r>
          </a:p>
        </p:txBody>
      </p:sp>
      <p:sp>
        <p:nvSpPr>
          <p:cNvPr id="13" name="text">
            <a:extLst xmlns:a="http://schemas.openxmlformats.org/drawingml/2006/main">
              <a:ext uri="{FF2B5EF4-FFF2-40B4-BE49-F238E27FC236}">
                <a16:creationId xmlns:a16="http://schemas.microsoft.com/office/drawing/2014/main" id="{A4243ECA-866C-4489-87BD-08D9D903051C}"/>
              </a:ext>
            </a:extLst>
          </p:cNvPr>
          <p:cNvSpPr>
            <a:spLocks xmlns:a="http://schemas.openxmlformats.org/drawingml/2006/main" noGrp="1"/>
          </p:cNvSpPr>
          <p:nvPr/>
        </p:nvSpPr>
        <p:spPr>
          <a:xfrm xmlns:a="http://schemas.openxmlformats.org/drawingml/2006/main">
            <a:off x="504825" y="487680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550" b="1">
                <a:solidFill>
                  <a:srgbClr val="B7252C"/>
                </a:solidFill>
                <a:latin typeface="Arial"/>
                <a:ea typeface="Arial"/>
                <a:cs typeface="Arial"/>
              </a:defRPr>
            </a:pPr>
            <a:r>
              <a:rPr sz="2550" b="1">
                <a:solidFill>
                  <a:srgbClr val="B7252C"/>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FF5C0BE1-C5F1-4B68-8107-61A227E5B2FD}"/>
              </a:ext>
            </a:extLst>
          </p:cNvPr>
          <p:cNvSpPr>
            <a:spLocks xmlns:a="http://schemas.openxmlformats.org/drawingml/2006/main" noGrp="1"/>
          </p:cNvSpPr>
          <p:nvPr/>
        </p:nvSpPr>
        <p:spPr>
          <a:xfrm xmlns:a="http://schemas.openxmlformats.org/drawingml/2006/main">
            <a:off x="1457325" y="4876800"/>
            <a:ext cx="993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17212B"/>
                </a:solidFill>
                <a:latin typeface="Arial"/>
                <a:ea typeface="Arial"/>
                <a:cs typeface="Arial"/>
              </a:defRPr>
            </a:pPr>
            <a:r>
              <a:rPr sz="2175" b="1">
                <a:solidFill>
                  <a:srgbClr val="17212B"/>
                </a:solidFill>
                <a:latin typeface="Arial"/>
                <a:ea typeface="Arial"/>
                <a:cs typeface="Arial"/>
              </a:rPr>
              <a:t>Evidence of recovery</a:t>
            </a:r>
          </a:p>
        </p:txBody>
      </p:sp>
      <p:sp>
        <p:nvSpPr>
          <p:cNvPr id="15" name="text">
            <a:extLst xmlns:a="http://schemas.openxmlformats.org/drawingml/2006/main">
              <a:ext uri="{FF2B5EF4-FFF2-40B4-BE49-F238E27FC236}">
                <a16:creationId xmlns:a16="http://schemas.microsoft.com/office/drawing/2014/main" id="{932F3568-D76C-48FB-81D2-4EBA67B7EFD4}"/>
              </a:ext>
            </a:extLst>
          </p:cNvPr>
          <p:cNvSpPr>
            <a:spLocks xmlns:a="http://schemas.openxmlformats.org/drawingml/2006/main" noGrp="1"/>
          </p:cNvSpPr>
          <p:nvPr/>
        </p:nvSpPr>
        <p:spPr>
          <a:xfrm xmlns:a="http://schemas.openxmlformats.org/drawingml/2006/main">
            <a:off x="1457325" y="5314950"/>
            <a:ext cx="993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536370"/>
                </a:solidFill>
                <a:latin typeface="Arial"/>
                <a:ea typeface="Arial"/>
                <a:cs typeface="Arial"/>
              </a:defRPr>
            </a:pPr>
            <a:r>
              <a:rPr sz="1875" b="0">
                <a:solidFill>
                  <a:srgbClr val="536370"/>
                </a:solidFill>
                <a:latin typeface="Arial"/>
                <a:ea typeface="Arial"/>
                <a:cs typeface="Arial"/>
              </a:rPr>
              <a:t>Rollback restored task3-v1; rollout status succeeded and both pods were Running.</a:t>
            </a:r>
          </a:p>
        </p:txBody>
      </p:sp>
      <p:sp>
        <p:nvSpPr>
          <p:cNvPr id="16" name="text">
            <a:extLst xmlns:a="http://schemas.openxmlformats.org/drawingml/2006/main">
              <a:ext uri="{FF2B5EF4-FFF2-40B4-BE49-F238E27FC236}">
                <a16:creationId xmlns:a16="http://schemas.microsoft.com/office/drawing/2014/main" id="{0F2E26E6-8C62-4397-9211-8D6D670756DB}"/>
              </a:ext>
            </a:extLst>
          </p:cNvPr>
          <p:cNvSpPr>
            <a:spLocks xmlns:a="http://schemas.openxmlformats.org/drawingml/2006/main" noGrp="1"/>
          </p:cNvSpPr>
          <p:nvPr/>
        </p:nvSpPr>
        <p:spPr>
          <a:xfrm xmlns:a="http://schemas.openxmlformats.org/drawingml/2006/main">
            <a:off x="504825" y="62769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B7252C"/>
                </a:solidFill>
                <a:latin typeface="Arial"/>
                <a:ea typeface="Arial"/>
                <a:cs typeface="Arial"/>
              </a:defRPr>
            </a:pPr>
            <a:r>
              <a:rPr sz="1800" b="1">
                <a:solidFill>
                  <a:srgbClr val="B7252C"/>
                </a:solidFill>
                <a:latin typeface="Arial"/>
                <a:ea typeface="Arial"/>
                <a:cs typeface="Arial"/>
              </a:rPr>
              <a:t/>
            </a:r>
          </a:p>
        </p:txBody>
      </p:sp>
    </p:spTree>
    <p:extLst>
      <p:ext uri="{BB962C8B-B14F-4D97-AF65-F5344CB8AC3E}">
        <p14:creationId xmlns:p14="http://schemas.microsoft.com/office/powerpoint/2010/main" val="16635663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22A853F-30F7-46DA-83AC-921E6C804D7D}"/>
              </a:ext>
            </a:extLst>
          </p:cNvPr>
          <p:cNvSpPr>
            <a:spLocks xmlns:a="http://schemas.openxmlformats.org/drawingml/2006/main" noGrp="1"/>
          </p:cNvSpPr>
          <p:nvPr/>
        </p:nvSpPr>
        <p:spPr>
          <a:xfrm xmlns:a="http://schemas.openxmlformats.org/drawingml/2006/main">
            <a:off x="685800" y="5905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12B"/>
                </a:solidFill>
                <a:latin typeface="Arial"/>
                <a:ea typeface="Arial"/>
                <a:cs typeface="Arial"/>
              </a:defRPr>
            </a:pPr>
            <a:r>
              <a:rPr sz="3450" b="1">
                <a:solidFill>
                  <a:srgbClr val="17212B"/>
                </a:solidFill>
                <a:latin typeface="Arial"/>
                <a:ea typeface="Arial"/>
                <a:cs typeface="Arial"/>
              </a:rPr>
              <a:t>Lex Orion</a:t>
            </a:r>
          </a:p>
        </p:txBody>
      </p:sp>
      <p:sp>
        <p:nvSpPr>
          <p:cNvPr id="2" name="subtitle">
            <a:extLst xmlns:a="http://schemas.openxmlformats.org/drawingml/2006/main">
              <a:ext uri="{FF2B5EF4-FFF2-40B4-BE49-F238E27FC236}">
                <a16:creationId xmlns:a16="http://schemas.microsoft.com/office/drawing/2014/main" id="{83B52B20-5DBA-408E-9D72-60D5A38600DD}"/>
              </a:ext>
            </a:extLst>
          </p:cNvPr>
          <p:cNvSpPr>
            <a:spLocks xmlns:a="http://schemas.openxmlformats.org/drawingml/2006/main" noGrp="1"/>
          </p:cNvSpPr>
          <p:nvPr/>
        </p:nvSpPr>
        <p:spPr>
          <a:xfrm xmlns:a="http://schemas.openxmlformats.org/drawingml/2006/main">
            <a:off x="685800" y="13620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370"/>
                </a:solidFill>
                <a:latin typeface="Arial"/>
                <a:ea typeface="Arial"/>
                <a:cs typeface="Arial"/>
              </a:defRPr>
            </a:pPr>
            <a:r>
              <a:rPr sz="1725" b="0">
                <a:solidFill>
                  <a:srgbClr val="536370"/>
                </a:solidFill>
                <a:latin typeface="Arial"/>
                <a:ea typeface="Arial"/>
                <a:cs typeface="Arial"/>
              </a:rPr>
              <a:t>Lex Orion: Task 5 Reflection and Report</a:t>
            </a:r>
          </a:p>
        </p:txBody>
      </p:sp>
      <p:sp>
        <p:nvSpPr>
          <p:cNvPr id="3" name="group">
            <a:extLst xmlns:a="http://schemas.openxmlformats.org/drawingml/2006/main">
              <a:ext uri="{FF2B5EF4-FFF2-40B4-BE49-F238E27FC236}">
                <a16:creationId xmlns:a16="http://schemas.microsoft.com/office/drawing/2014/main" id="{AE6C7617-5055-42AD-AF1D-C11898D9E02B}"/>
              </a:ext>
            </a:extLst>
          </p:cNvPr>
          <p:cNvSpPr>
            <a:spLocks xmlns:a="http://schemas.openxmlformats.org/drawingml/2006/main" noGrp="1"/>
          </p:cNvSpPr>
          <p:nvPr/>
        </p:nvSpPr>
        <p:spPr>
          <a:xfrm xmlns:a="http://schemas.openxmlformats.org/drawingml/2006/main">
            <a:off x="685800" y="21526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252C"/>
                </a:solidFill>
                <a:latin typeface="Arial"/>
                <a:ea typeface="Arial"/>
                <a:cs typeface="Arial"/>
              </a:defRPr>
            </a:pPr>
            <a:r>
              <a:rPr sz="2400" b="1">
                <a:solidFill>
                  <a:srgbClr val="B7252C"/>
                </a:solidFill>
                <a:latin typeface="Arial"/>
                <a:ea typeface="Arial"/>
                <a:cs typeface="Arial"/>
              </a:rPr>
              <a:t>Group 32</a:t>
            </a:r>
          </a:p>
        </p:txBody>
      </p:sp>
      <p:sp>
        <p:nvSpPr>
          <p:cNvPr id="4" name="name-header">
            <a:extLst xmlns:a="http://schemas.openxmlformats.org/drawingml/2006/main">
              <a:ext uri="{FF2B5EF4-FFF2-40B4-BE49-F238E27FC236}">
                <a16:creationId xmlns:a16="http://schemas.microsoft.com/office/drawing/2014/main" id="{01568BCF-5E59-4AF5-8DE8-3AE45FE19EAD}"/>
              </a:ext>
            </a:extLst>
          </p:cNvPr>
          <p:cNvSpPr>
            <a:spLocks xmlns:a="http://schemas.openxmlformats.org/drawingml/2006/main" noGrp="1"/>
          </p:cNvSpPr>
          <p:nvPr/>
        </p:nvSpPr>
        <p:spPr>
          <a:xfrm xmlns:a="http://schemas.openxmlformats.org/drawingml/2006/main">
            <a:off x="685800" y="30384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36370"/>
                </a:solidFill>
                <a:latin typeface="Arial"/>
                <a:ea typeface="Arial"/>
                <a:cs typeface="Arial"/>
              </a:defRPr>
            </a:pPr>
            <a:r>
              <a:rPr sz="1650" b="1">
                <a:solidFill>
                  <a:srgbClr val="536370"/>
                </a:solidFill>
                <a:latin typeface="Arial"/>
                <a:ea typeface="Arial"/>
                <a:cs typeface="Arial"/>
              </a:rPr>
              <a:t>Name</a:t>
            </a:r>
          </a:p>
        </p:txBody>
      </p:sp>
      <p:sp>
        <p:nvSpPr>
          <p:cNvPr id="5" name="prn-header">
            <a:extLst xmlns:a="http://schemas.openxmlformats.org/drawingml/2006/main">
              <a:ext uri="{FF2B5EF4-FFF2-40B4-BE49-F238E27FC236}">
                <a16:creationId xmlns:a16="http://schemas.microsoft.com/office/drawing/2014/main" id="{F1271401-B9F4-4DE8-9D6C-FFAEB6C623EB}"/>
              </a:ext>
            </a:extLst>
          </p:cNvPr>
          <p:cNvSpPr>
            <a:spLocks xmlns:a="http://schemas.openxmlformats.org/drawingml/2006/main" noGrp="1"/>
          </p:cNvSpPr>
          <p:nvPr/>
        </p:nvSpPr>
        <p:spPr>
          <a:xfrm xmlns:a="http://schemas.openxmlformats.org/drawingml/2006/main">
            <a:off x="6096000" y="30384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36370"/>
                </a:solidFill>
                <a:latin typeface="Arial"/>
                <a:ea typeface="Arial"/>
                <a:cs typeface="Arial"/>
              </a:defRPr>
            </a:pPr>
            <a:r>
              <a:rPr sz="1650" b="1">
                <a:solidFill>
                  <a:srgbClr val="536370"/>
                </a:solidFill>
                <a:latin typeface="Arial"/>
                <a:ea typeface="Arial"/>
                <a:cs typeface="Arial"/>
              </a:rPr>
              <a:t>PRN</a:t>
            </a:r>
          </a:p>
        </p:txBody>
      </p:sp>
      <p:sp>
        <p:nvSpPr>
          <p:cNvPr id="6" name="member-1">
            <a:extLst xmlns:a="http://schemas.openxmlformats.org/drawingml/2006/main">
              <a:ext uri="{FF2B5EF4-FFF2-40B4-BE49-F238E27FC236}">
                <a16:creationId xmlns:a16="http://schemas.microsoft.com/office/drawing/2014/main" id="{584BA777-EE10-4A9E-9FCB-8C3379903012}"/>
              </a:ext>
            </a:extLst>
          </p:cNvPr>
          <p:cNvSpPr>
            <a:spLocks xmlns:a="http://schemas.openxmlformats.org/drawingml/2006/main" noGrp="1"/>
          </p:cNvSpPr>
          <p:nvPr/>
        </p:nvSpPr>
        <p:spPr>
          <a:xfrm xmlns:a="http://schemas.openxmlformats.org/drawingml/2006/main">
            <a:off x="685800" y="35147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Sreehari Nair</a:t>
            </a:r>
          </a:p>
        </p:txBody>
      </p:sp>
      <p:sp>
        <p:nvSpPr>
          <p:cNvPr id="7" name="prn-1">
            <a:extLst xmlns:a="http://schemas.openxmlformats.org/drawingml/2006/main">
              <a:ext uri="{FF2B5EF4-FFF2-40B4-BE49-F238E27FC236}">
                <a16:creationId xmlns:a16="http://schemas.microsoft.com/office/drawing/2014/main" id="{CDE047A4-0C9C-4EE3-8545-DE93D13FFEF7}"/>
              </a:ext>
            </a:extLst>
          </p:cNvPr>
          <p:cNvSpPr>
            <a:spLocks xmlns:a="http://schemas.openxmlformats.org/drawingml/2006/main" noGrp="1"/>
          </p:cNvSpPr>
          <p:nvPr/>
        </p:nvSpPr>
        <p:spPr>
          <a:xfrm xmlns:a="http://schemas.openxmlformats.org/drawingml/2006/main">
            <a:off x="6096000" y="351472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23070122144</a:t>
            </a:r>
          </a:p>
        </p:txBody>
      </p:sp>
      <p:sp>
        <p:nvSpPr>
          <p:cNvPr id="8" name="member-2">
            <a:extLst xmlns:a="http://schemas.openxmlformats.org/drawingml/2006/main">
              <a:ext uri="{FF2B5EF4-FFF2-40B4-BE49-F238E27FC236}">
                <a16:creationId xmlns:a16="http://schemas.microsoft.com/office/drawing/2014/main" id="{C32BAF89-0E82-43F4-9814-FA73C019F5CB}"/>
              </a:ext>
            </a:extLst>
          </p:cNvPr>
          <p:cNvSpPr>
            <a:spLocks xmlns:a="http://schemas.openxmlformats.org/drawingml/2006/main" noGrp="1"/>
          </p:cNvSpPr>
          <p:nvPr/>
        </p:nvSpPr>
        <p:spPr>
          <a:xfrm xmlns:a="http://schemas.openxmlformats.org/drawingml/2006/main">
            <a:off x="685800" y="40671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Parth Damle</a:t>
            </a:r>
          </a:p>
        </p:txBody>
      </p:sp>
      <p:sp>
        <p:nvSpPr>
          <p:cNvPr id="9" name="prn-2">
            <a:extLst xmlns:a="http://schemas.openxmlformats.org/drawingml/2006/main">
              <a:ext uri="{FF2B5EF4-FFF2-40B4-BE49-F238E27FC236}">
                <a16:creationId xmlns:a16="http://schemas.microsoft.com/office/drawing/2014/main" id="{8F14BC4E-3406-4A76-8E53-17D63D3390A6}"/>
              </a:ext>
            </a:extLst>
          </p:cNvPr>
          <p:cNvSpPr>
            <a:spLocks xmlns:a="http://schemas.openxmlformats.org/drawingml/2006/main" noGrp="1"/>
          </p:cNvSpPr>
          <p:nvPr/>
        </p:nvSpPr>
        <p:spPr>
          <a:xfrm xmlns:a="http://schemas.openxmlformats.org/drawingml/2006/main">
            <a:off x="6096000" y="406717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23070122161</a:t>
            </a:r>
          </a:p>
        </p:txBody>
      </p:sp>
      <p:sp>
        <p:nvSpPr>
          <p:cNvPr id="10" name="member-3">
            <a:extLst xmlns:a="http://schemas.openxmlformats.org/drawingml/2006/main">
              <a:ext uri="{FF2B5EF4-FFF2-40B4-BE49-F238E27FC236}">
                <a16:creationId xmlns:a16="http://schemas.microsoft.com/office/drawing/2014/main" id="{E3B8F7DC-EB3B-48C8-B674-292FC3B990F1}"/>
              </a:ext>
            </a:extLst>
          </p:cNvPr>
          <p:cNvSpPr>
            <a:spLocks xmlns:a="http://schemas.openxmlformats.org/drawingml/2006/main" noGrp="1"/>
          </p:cNvSpPr>
          <p:nvPr/>
        </p:nvSpPr>
        <p:spPr>
          <a:xfrm xmlns:a="http://schemas.openxmlformats.org/drawingml/2006/main">
            <a:off x="685800" y="46196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Pratik Lakra</a:t>
            </a:r>
          </a:p>
        </p:txBody>
      </p:sp>
      <p:sp>
        <p:nvSpPr>
          <p:cNvPr id="11" name="prn-3">
            <a:extLst xmlns:a="http://schemas.openxmlformats.org/drawingml/2006/main">
              <a:ext uri="{FF2B5EF4-FFF2-40B4-BE49-F238E27FC236}">
                <a16:creationId xmlns:a16="http://schemas.microsoft.com/office/drawing/2014/main" id="{314A6258-02DB-411D-9236-769D9E5B77EF}"/>
              </a:ext>
            </a:extLst>
          </p:cNvPr>
          <p:cNvSpPr>
            <a:spLocks xmlns:a="http://schemas.openxmlformats.org/drawingml/2006/main" noGrp="1"/>
          </p:cNvSpPr>
          <p:nvPr/>
        </p:nvSpPr>
        <p:spPr>
          <a:xfrm xmlns:a="http://schemas.openxmlformats.org/drawingml/2006/main">
            <a:off x="6096000" y="461962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23070122166</a:t>
            </a:r>
          </a:p>
        </p:txBody>
      </p:sp>
      <p:sp>
        <p:nvSpPr>
          <p:cNvPr id="12" name="member-4">
            <a:extLst xmlns:a="http://schemas.openxmlformats.org/drawingml/2006/main">
              <a:ext uri="{FF2B5EF4-FFF2-40B4-BE49-F238E27FC236}">
                <a16:creationId xmlns:a16="http://schemas.microsoft.com/office/drawing/2014/main" id="{A2E478C5-93EF-49F0-AD86-0CF4C2AFCDE6}"/>
              </a:ext>
            </a:extLst>
          </p:cNvPr>
          <p:cNvSpPr>
            <a:spLocks xmlns:a="http://schemas.openxmlformats.org/drawingml/2006/main" noGrp="1"/>
          </p:cNvSpPr>
          <p:nvPr/>
        </p:nvSpPr>
        <p:spPr>
          <a:xfrm xmlns:a="http://schemas.openxmlformats.org/drawingml/2006/main">
            <a:off x="685800" y="51720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Aryan Sheladia</a:t>
            </a:r>
          </a:p>
        </p:txBody>
      </p:sp>
      <p:sp>
        <p:nvSpPr>
          <p:cNvPr id="13" name="prn-4">
            <a:extLst xmlns:a="http://schemas.openxmlformats.org/drawingml/2006/main">
              <a:ext uri="{FF2B5EF4-FFF2-40B4-BE49-F238E27FC236}">
                <a16:creationId xmlns:a16="http://schemas.microsoft.com/office/drawing/2014/main" id="{442ACD84-6DEC-4E0C-AA21-540213665E70}"/>
              </a:ext>
            </a:extLst>
          </p:cNvPr>
          <p:cNvSpPr>
            <a:spLocks xmlns:a="http://schemas.openxmlformats.org/drawingml/2006/main" noGrp="1"/>
          </p:cNvSpPr>
          <p:nvPr/>
        </p:nvSpPr>
        <p:spPr>
          <a:xfrm xmlns:a="http://schemas.openxmlformats.org/drawingml/2006/main">
            <a:off x="6096000" y="517207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23070122202</a:t>
            </a:r>
          </a:p>
        </p:txBody>
      </p:sp>
    </p:spTree>
    <p:extLst>
      <p:ext uri="{BB962C8B-B14F-4D97-AF65-F5344CB8AC3E}">
        <p14:creationId xmlns:p14="http://schemas.microsoft.com/office/powerpoint/2010/main" val="206653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7</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2026-10-05T15:47:33.5410000Z</dcterms:created>
  <dcterms:modified xsi:type="dcterms:W3CDTF">2026-10-05T15:47:33.5410000Z</dcterms:modified>
</coreProperties>
</file>